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indent="0" algn="l">
              <a:buNone/>
              <a:def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 hasCustomPrompt="1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lstStyle>
            <a:lvl1pPr indent="0" algn="ctr">
              <a:lnSpc>
                <a:spcPct val="100000"/>
              </a:lnSpc>
              <a:buNone/>
              <a:defRPr lang="en-GB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en-GB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en-GB" sz="1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buNone/>
              <a:defRPr lang="en-GB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9999"/>
          </a:bodyPr>
          <a:lstStyle>
            <a:lvl1pPr indent="0" algn="l">
              <a:buNone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049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buNone/>
              <a:defRPr lang="en-GB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36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indent="0" algn="l">
              <a:buNone/>
              <a:def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595680" y="1779120"/>
            <a:ext cx="20581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p>
            <a:pPr indent="0"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Team - 48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55;p13"/>
          <p:cNvPicPr/>
          <p:nvPr/>
        </p:nvPicPr>
        <p:blipFill>
          <a:blip r:embed="rId1"/>
          <a:stretch/>
        </p:blipFill>
        <p:spPr>
          <a:xfrm>
            <a:off x="6752520" y="58320"/>
            <a:ext cx="2315520" cy="5500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3" name="Google Shape;56;p13"/>
          <p:cNvCxnSpPr/>
          <p:nvPr/>
        </p:nvCxnSpPr>
        <p:spPr>
          <a:xfrm>
            <a:off x="-20880" y="673920"/>
            <a:ext cx="9159480" cy="3528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  <p:graphicFrame>
        <p:nvGraphicFramePr>
          <p:cNvPr id="34" name="Google Shape;57;p13"/>
          <p:cNvGraphicFramePr/>
          <p:nvPr/>
        </p:nvGraphicFramePr>
        <p:xfrm>
          <a:off x="1005480" y="2346480"/>
          <a:ext cx="7238520" cy="1980000"/>
        </p:xfrm>
        <a:graphic>
          <a:graphicData uri="http://schemas.openxmlformats.org/drawingml/2006/table">
            <a:tbl>
              <a:tblPr/>
              <a:tblGrid>
                <a:gridCol w="2412720"/>
                <a:gridCol w="2412720"/>
                <a:gridCol w="2412720"/>
              </a:tblGrid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NAME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ROLL NO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USN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Ishwari J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117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01FE23BCS093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Rakshita J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217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01FE23BCS082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Amrutavarshini B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219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01FE23BCI024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Aditya C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217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01FE23BCI043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5" name="TextBox 1"/>
          <p:cNvSpPr/>
          <p:nvPr/>
        </p:nvSpPr>
        <p:spPr>
          <a:xfrm>
            <a:off x="152280" y="1401840"/>
            <a:ext cx="8944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defRPr sz="1300" b="1">
                <a:solidFill>
                  <a:srgbClr val="0A2540"/>
                </a:solidFill>
                <a:latin typeface="Arial"/>
              </a:defRPr>
            </a:pPr>
            <a:r>
              <a:t>Title : Privacy-Preserving Federated Generative Replay for Rare Disease Diagnosis: A Multi-Center Study on Idiopathic Pulmonary Fibrosis (IPF)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Box 2"/>
          <p:cNvSpPr/>
          <p:nvPr/>
        </p:nvSpPr>
        <p:spPr>
          <a:xfrm>
            <a:off x="5645520" y="4497840"/>
            <a:ext cx="2787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just"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Arial"/>
              </a:rPr>
              <a:t>Guide : Mallikarjun Akki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4"/>
          <p:cNvSpPr/>
          <p:nvPr/>
        </p:nvSpPr>
        <p:spPr>
          <a:xfrm>
            <a:off x="2328480" y="831240"/>
            <a:ext cx="4592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just">
              <a:lnSpc>
                <a:spcPct val="100000"/>
              </a:lnSpc>
              <a:defRPr sz="1400" b="1">
                <a:solidFill>
                  <a:srgbClr val="1A5FB4"/>
                </a:solidFill>
                <a:latin typeface="Arial"/>
              </a:defRPr>
            </a:pPr>
            <a:r>
              <a:t>Senior Design Project (SDP) – Review 2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Review 1 Feedback &amp; Problem Formulation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ADDRESSING REVIEWER CRITIQUE &amp; RESEARCH JUSTIFICATION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0A2540"/>
                </a:solidFill>
                <a:latin typeface="Arial"/>
              </a:defRPr>
            </a:pPr>
            <a:r>
              <a:t>1. Reviewer Feedback &amp; Critique</a:t>
            </a:r>
          </a:p>
          <a:p>
            <a:pPr>
              <a:spcBef>
                <a:spcPts val="300"/>
              </a:spcBef>
              <a:defRPr sz="1050" b="1">
                <a:solidFill>
                  <a:srgbClr val="C0392B"/>
                </a:solidFill>
                <a:latin typeface="Arial"/>
              </a:defRPr>
            </a:pPr>
            <a:r>
              <a:t>The Critique:</a:t>
            </a:r>
          </a:p>
          <a:p>
            <a:pPr>
              <a:spcBef>
                <a:spcPts val="3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"Federated learning cannot be done for multiple rare diseases simultaneously. You must focus on a single rare disease — either a unique one or an existing baseline having clear scope for improvement."</a:t>
            </a:r>
          </a:p>
          <a:p>
            <a:pPr>
              <a:spcBef>
                <a:spcPts val="300"/>
              </a:spcBef>
              <a:defRPr sz="1050" b="1">
                <a:solidFill>
                  <a:srgbClr val="0A2540"/>
                </a:solidFill>
                <a:latin typeface="Arial"/>
              </a:defRPr>
            </a:pPr>
            <a:r>
              <a:t>Why Reviewer Was Scientifically Correct:</a:t>
            </a:r>
          </a:p>
          <a:p>
            <a:pPr>
              <a:spcBef>
                <a:spcPts val="3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Cross-Modality Incompatibility: Different rare conditions require incompatible scans (Retinal Fundus vs Brain MRI vs Chest HRCT).</a:t>
            </a:r>
          </a:p>
          <a:p>
            <a:pPr>
              <a:spcBef>
                <a:spcPts val="3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Gradient Orthogonality: Hospitals specializing in different pathologies produce conflicting gradients that cause severe client drift and feature collapse.</a:t>
            </a:r>
          </a:p>
          <a:p>
            <a:pPr>
              <a:spcBef>
                <a:spcPts val="3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Real Clinical Practice: Medical federations (e.g., OSIC, BraTS) always organize around a single targeted disease entity.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0A2540"/>
                </a:solidFill>
                <a:latin typeface="Arial"/>
              </a:defRPr>
            </a:pPr>
            <a:r>
              <a:t>2. Selected Focus &amp; Scope for Improvement</a:t>
            </a:r>
          </a:p>
          <a:p>
            <a:pPr>
              <a:spcBef>
                <a:spcPts val="300"/>
              </a:spcBef>
              <a:defRPr sz="1050" b="1">
                <a:solidFill>
                  <a:srgbClr val="1A5FB4"/>
                </a:solidFill>
                <a:latin typeface="Arial"/>
              </a:defRPr>
            </a:pPr>
            <a:r>
              <a:t>Selected Rare Pathology:</a:t>
            </a:r>
          </a:p>
          <a:p>
            <a:pPr>
              <a:spcBef>
                <a:spcPts val="3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Idiopathic Pulmonary Fibrosis (IPF, ORPHA:2032) — an ultra-rare, fatal interstitial lung disease with 2–3 yr median survival.</a:t>
            </a:r>
          </a:p>
          <a:p>
            <a:pPr>
              <a:spcBef>
                <a:spcPts val="300"/>
              </a:spcBef>
              <a:defRPr sz="1050" b="1">
                <a:solidFill>
                  <a:srgbClr val="1A5FB4"/>
                </a:solidFill>
                <a:latin typeface="Arial"/>
              </a:defRPr>
            </a:pPr>
            <a:r>
              <a:t>Identified State-of-the-Art Baseline:</a:t>
            </a:r>
          </a:p>
          <a:p>
            <a:pPr>
              <a:spcBef>
                <a:spcPts val="3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FedIIC (MICCAI '23 Early Accept) — published framework for class-imbalanced medical image classification.</a:t>
            </a:r>
          </a:p>
          <a:p>
            <a:pPr>
              <a:spcBef>
                <a:spcPts val="300"/>
              </a:spcBef>
              <a:defRPr sz="1050" b="1">
                <a:solidFill>
                  <a:srgbClr val="C0392B"/>
                </a:solidFill>
                <a:latin typeface="Arial"/>
              </a:defRPr>
            </a:pPr>
            <a:r>
              <a:t>Clear Scope for Improvement:</a:t>
            </a:r>
          </a:p>
          <a:p>
            <a:pPr>
              <a:spcBef>
                <a:spcPts val="3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FedIIC relies on contrastive pairs (IntraSCL) requiring ≥ 2 samples per class in local hospital batches.</a:t>
            </a:r>
          </a:p>
          <a:p>
            <a:pPr>
              <a:spcBef>
                <a:spcPts val="3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In true rare diseases, hospitals have 0 or 1 patient scan → FedIIC mathematically collapses.</a:t>
            </a:r>
          </a:p>
          <a:p>
            <a:pPr>
              <a:spcBef>
                <a:spcPts val="300"/>
              </a:spcBef>
              <a:defRPr sz="1050" b="0">
                <a:solidFill>
                  <a:srgbClr val="27AE60"/>
                </a:solidFill>
                <a:latin typeface="Arial"/>
              </a:defRPr>
            </a:pPr>
            <a:r>
              <a:t>• FedGen-Rare introduces generative latent replay to restore balanced learning even for zero-patient clinics.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Target Pathology — Idiopathic Pulmonary Fibrosis (IPF)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CLINICAL PROFILE, DIAGNOSTIC DILEMMA &amp; FEDERATED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04672"/>
            <a:ext cx="85039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  <a:defRPr sz="1250" b="1">
                <a:solidFill>
                  <a:srgbClr val="0A2540"/>
                </a:solidFill>
                <a:latin typeface="Arial"/>
              </a:defRPr>
            </a:pPr>
            <a:r>
              <a:t>Clinical Severity &amp; Epidemiological Rarity (ORPHA:2032):</a:t>
            </a:r>
          </a:p>
          <a:p>
            <a:pPr>
              <a:spcBef>
                <a:spcPts val="200"/>
              </a:spcBef>
              <a:defRPr sz="1100" b="0">
                <a:solidFill>
                  <a:srgbClr val="282C34"/>
                </a:solidFill>
                <a:latin typeface="Arial"/>
              </a:defRPr>
            </a:pPr>
            <a:r>
              <a:t>• IPF is an irreversible, chronic, fibrosing interstitial pneumonia of unknown cause, primarily occurring in older adults.</a:t>
            </a:r>
          </a:p>
          <a:p>
            <a:pPr>
              <a:spcBef>
                <a:spcPts val="200"/>
              </a:spcBef>
              <a:defRPr sz="1100" b="0">
                <a:solidFill>
                  <a:srgbClr val="282C34"/>
                </a:solidFill>
                <a:latin typeface="Arial"/>
              </a:defRPr>
            </a:pPr>
            <a:r>
              <a:t>• Median survival following diagnosis is merely 2 to 3 years — worse prognosis than most common malignancies.</a:t>
            </a:r>
          </a:p>
          <a:p>
            <a:pPr>
              <a:spcBef>
                <a:spcPts val="200"/>
              </a:spcBef>
              <a:defRPr sz="1100" b="0">
                <a:solidFill>
                  <a:srgbClr val="282C34"/>
                </a:solidFill>
                <a:latin typeface="Arial"/>
              </a:defRPr>
            </a:pPr>
            <a:r>
              <a:t>• Rarity: Prevalence is estimated at ~10 to 60 cases per 100,000 (~0.05%), representing &lt; 8% of thoracic scans in general pulmonary clinics.</a:t>
            </a:r>
          </a:p>
          <a:p>
            <a:pPr>
              <a:spcBef>
                <a:spcPts val="600"/>
              </a:spcBef>
              <a:defRPr sz="1250" b="1">
                <a:solidFill>
                  <a:srgbClr val="1A5FB4"/>
                </a:solidFill>
                <a:latin typeface="Arial"/>
              </a:defRPr>
            </a:pPr>
            <a:r>
              <a:t>The Diagnostic Dilemma on High-Resolution CT (HRCT):</a:t>
            </a:r>
          </a:p>
          <a:p>
            <a:pPr>
              <a:spcBef>
                <a:spcPts val="200"/>
              </a:spcBef>
              <a:defRPr sz="1100" b="0">
                <a:solidFill>
                  <a:srgbClr val="282C34"/>
                </a:solidFill>
                <a:latin typeface="Arial"/>
              </a:defRPr>
            </a:pPr>
            <a:r>
              <a:t>• Visual Mimicry: Early IPF shares identical non-specific ground-glass opacities (GGO) with common COPD and Non-IPF ILD.</a:t>
            </a:r>
          </a:p>
          <a:p>
            <a:pPr>
              <a:spcBef>
                <a:spcPts val="200"/>
              </a:spcBef>
              <a:defRPr sz="1100" b="0">
                <a:solidFill>
                  <a:srgbClr val="282C34"/>
                </a:solidFill>
                <a:latin typeface="Arial"/>
              </a:defRPr>
            </a:pPr>
            <a:r>
              <a:t>• Diagnostic Hallmark: UIP pattern (subpleural, basal-predominant reticular honeycombing and traction bronchiectasis).</a:t>
            </a:r>
          </a:p>
          <a:p>
            <a:pPr>
              <a:spcBef>
                <a:spcPts val="200"/>
              </a:spcBef>
              <a:defRPr sz="1100" b="0">
                <a:solidFill>
                  <a:srgbClr val="282C34"/>
                </a:solidFill>
                <a:latin typeface="Arial"/>
              </a:defRPr>
            </a:pPr>
            <a:r>
              <a:t>• Community Hospital Bottleneck: General radiologists in district centers see &lt; 3 cases annually, leading to misdiagnosis.</a:t>
            </a:r>
          </a:p>
          <a:p>
            <a:pPr>
              <a:spcBef>
                <a:spcPts val="600"/>
              </a:spcBef>
              <a:defRPr sz="1250" b="1">
                <a:solidFill>
                  <a:srgbClr val="C0392B"/>
                </a:solidFill>
                <a:latin typeface="Arial"/>
              </a:defRPr>
            </a:pPr>
            <a:r>
              <a:t>Why Federated Learning is Mandatory (The Privacy-Scarcity Paradox):</a:t>
            </a:r>
          </a:p>
          <a:p>
            <a:pPr>
              <a:spcBef>
                <a:spcPts val="200"/>
              </a:spcBef>
              <a:defRPr sz="1100" b="0">
                <a:solidFill>
                  <a:srgbClr val="282C34"/>
                </a:solidFill>
                <a:latin typeface="Arial"/>
              </a:defRPr>
            </a:pPr>
            <a:r>
              <a:t>• Privacy Mandates: HIPAA and GDPR strictly prohibit centralizing high-resolution patient DICOM CT scans across health systems.</a:t>
            </a:r>
          </a:p>
          <a:p>
            <a:pPr>
              <a:spcBef>
                <a:spcPts val="200"/>
              </a:spcBef>
              <a:defRPr sz="1100" b="0">
                <a:solidFill>
                  <a:srgbClr val="282C34"/>
                </a:solidFill>
                <a:latin typeface="Arial"/>
              </a:defRPr>
            </a:pPr>
            <a:r>
              <a:t>• Scarcity Dilemma: Individual hospital silos lack sufficient rare cases to train deep networks independently.</a:t>
            </a:r>
          </a:p>
          <a:p>
            <a:pPr>
              <a:spcBef>
                <a:spcPts val="200"/>
              </a:spcBef>
              <a:defRPr sz="1100" b="1">
                <a:solidFill>
                  <a:srgbClr val="282C34"/>
                </a:solidFill>
                <a:latin typeface="Arial"/>
              </a:defRPr>
            </a:pPr>
            <a:r>
              <a:t>• Solution: Collaborative federated learning where hospitals train jointly without moving private CT scans.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System Requirements Specification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PI 3.1.3: FUNCTIONAL, NON-FUNCTIONAL REQUIREMENTS &amp; CONSTRAINTS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0A2540"/>
                </a:solidFill>
                <a:latin typeface="Arial"/>
              </a:defRPr>
            </a:pPr>
            <a:r>
              <a:t>Functional Requirements (FRs)</a:t>
            </a:r>
          </a:p>
          <a:p>
            <a:pPr>
              <a:spcBef>
                <a:spcPts val="30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• FR1: Non-IID Multi-Center Partitioning: </a:t>
            </a:r>
            <a:r>
              <a:rPr b="0">
                <a:solidFill>
                  <a:srgbClr val="282C34"/>
                </a:solidFill>
              </a:rPr>
              <a:t>Simulate realistic hospital scarcity using Dirichlet skew (alpha=0.2) across 5 hospital nodes.</a:t>
            </a:r>
          </a:p>
          <a:p>
            <a:pPr>
              <a:spcBef>
                <a:spcPts val="30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• FR2: Local Diagnostic Training: </a:t>
            </a:r>
            <a:r>
              <a:rPr b="0">
                <a:solidFill>
                  <a:srgbClr val="282C34"/>
                </a:solidFill>
              </a:rPr>
              <a:t>Train diagnostic backbones locally with standard CE, FedProx, FedIIC, and Generative Replay.</a:t>
            </a:r>
          </a:p>
          <a:p>
            <a:pPr>
              <a:spcBef>
                <a:spcPts val="30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• FR3: Federated Generator Distillation: </a:t>
            </a:r>
            <a:r>
              <a:rPr b="0">
                <a:solidFill>
                  <a:srgbClr val="282C34"/>
                </a:solidFill>
              </a:rPr>
              <a:t>Train conditional feature generator G_psi using knowledge distilled from global classifier.</a:t>
            </a:r>
          </a:p>
          <a:p>
            <a:pPr>
              <a:spcBef>
                <a:spcPts val="30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• FR4: Dynamic Generative Replay: </a:t>
            </a:r>
            <a:r>
              <a:rPr b="0">
                <a:solidFill>
                  <a:srgbClr val="282C34"/>
                </a:solidFill>
              </a:rPr>
              <a:t>Synthesize rare IPF latent features locally when clinic batch contains &lt; target quota.</a:t>
            </a:r>
          </a:p>
          <a:p>
            <a:pPr>
              <a:spcBef>
                <a:spcPts val="30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• FR5: Federated Server Aggregation: </a:t>
            </a:r>
            <a:r>
              <a:rPr b="0">
                <a:solidFill>
                  <a:srgbClr val="282C34"/>
                </a:solidFill>
              </a:rPr>
              <a:t>Aggregate classifier weights theta and generator weights psi via weighted FedAvg.</a:t>
            </a:r>
          </a:p>
          <a:p>
            <a:pPr>
              <a:spcBef>
                <a:spcPts val="30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• FR6: Comprehensive Benchmarking: </a:t>
            </a:r>
            <a:r>
              <a:rPr b="0">
                <a:solidFill>
                  <a:srgbClr val="282C34"/>
                </a:solidFill>
              </a:rPr>
              <a:t>Evaluate across 7 clinical metrics: BACC, IPF Recall, IPF F1, Macro-F1, Precision, Acc,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0A2540"/>
                </a:solidFill>
                <a:latin typeface="Arial"/>
              </a:defRPr>
            </a:pPr>
            <a:r>
              <a:t>Non-Functional Requirements &amp; Constraints</a:t>
            </a:r>
          </a:p>
          <a:p>
            <a:pPr>
              <a:spcBef>
                <a:spcPts val="30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• NFR1: Privacy (Zero Raw Data Leakage): </a:t>
            </a:r>
            <a:r>
              <a:rPr b="0">
                <a:solidFill>
                  <a:srgbClr val="282C34"/>
                </a:solidFill>
              </a:rPr>
              <a:t>Raw patient HRCT scans NEVER leave hospital edge nodes. Only model parameter deltas and 128-dim latent vectors are exchanged.</a:t>
            </a:r>
          </a:p>
          <a:p>
            <a:pPr>
              <a:spcBef>
                <a:spcPts val="30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• NFR2: Portability &amp; Hardware Independence: </a:t>
            </a:r>
            <a:r>
              <a:rPr b="0">
                <a:solidFill>
                  <a:srgbClr val="282C34"/>
                </a:solidFill>
              </a:rPr>
              <a:t>Executable across Linux / Windows / macOS, CPU and CUDA GPU nodes without code modification.</a:t>
            </a:r>
          </a:p>
          <a:p>
            <a:pPr>
              <a:spcBef>
                <a:spcPts val="30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• NFR3: Scalability: </a:t>
            </a:r>
            <a:r>
              <a:rPr b="0">
                <a:solidFill>
                  <a:srgbClr val="282C34"/>
                </a:solidFill>
              </a:rPr>
              <a:t>Seamlessly supports 3 to 20 hospital consortium nodes.</a:t>
            </a:r>
          </a:p>
          <a:p>
            <a:pPr>
              <a:spcBef>
                <a:spcPts val="30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• NFR4: Reproducibility: </a:t>
            </a:r>
            <a:r>
              <a:rPr b="0">
                <a:solidFill>
                  <a:srgbClr val="282C34"/>
                </a:solidFill>
              </a:rPr>
              <a:t>Deterministic benchmarking seeded via global seed=42.</a:t>
            </a:r>
          </a:p>
          <a:p>
            <a:pPr>
              <a:spcBef>
                <a:spcPts val="30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• System Constraints:: </a:t>
            </a:r>
            <a:r>
              <a:rPr b="0">
                <a:solidFill>
                  <a:srgbClr val="282C34"/>
                </a:solidFill>
              </a:rPr>
              <a:t>All participant hospitals acquire 64x64 standardized thoracic axial slices. Synchronous round coordination.</a:t>
            </a:r>
          </a:p>
          <a:p>
            <a:pPr>
              <a:spcBef>
                <a:spcPts val="30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• Explicit Assumptions:: </a:t>
            </a:r>
            <a:r>
              <a:rPr b="0">
                <a:solidFill>
                  <a:srgbClr val="282C34"/>
                </a:solidFill>
              </a:rPr>
              <a:t>Hospital nodes maintain active network connectivity during communication rounds; honest-but-curious aggregator.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System Architecture &amp; Design Principles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PI 3.3.1: TWO-STAGE GENERATIVE REPLAY &amp; FORMAL DESIGN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04672"/>
            <a:ext cx="85039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500"/>
              </a:spcBef>
              <a:defRPr sz="1200" b="1">
                <a:solidFill>
                  <a:srgbClr val="0A2540"/>
                </a:solidFill>
                <a:latin typeface="Arial"/>
              </a:defRPr>
            </a:pPr>
            <a:r>
              <a:t>Two-Stage Federated Generative Replay Protocol: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Stage 1 (Generator Distillation): Global classifier F_theta is broadcast. Hospitals distill feature representation knowledge into local generator G_psi using classification loss + feature centroid matching.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Stage 1 Aggregation: Server performs weighted FedAvg aggregation of generator weights: psi_glob = Sum (n_k / N) psi_k.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Stage 2 (Generative Replay Classifier Update): Hospitals receive updated G_psi. Data-starved clinics synthesize missing IPF feature representations f_hat to balance local batches before updating F_theta.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Stage 2 Aggregation: Server aggregates classifier weights: theta_glob = Sum (n_k / N) theta_k.</a:t>
            </a:r>
          </a:p>
          <a:p>
            <a:pPr>
              <a:spcBef>
                <a:spcPts val="500"/>
              </a:spcBef>
              <a:defRPr sz="1200" b="1">
                <a:solidFill>
                  <a:srgbClr val="1A5FB4"/>
                </a:solidFill>
                <a:latin typeface="Arial"/>
              </a:defRPr>
            </a:pPr>
            <a:r>
              <a:t>Formal Software Design Patterns Applied (PI 3.3.1 Requirement):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1. Strategy Pattern: FederatedServer defines swappable algorithm strategies (train_round_fedavg, train_round_fedprox, train_round_fediic, train_round_fedgen_rare) without modifying core orchestration.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2. Producer-Consumer Pattern: ConditionalFeatureGenerator acts as a decoupled producer of synthetic embeddings, consumed by the classifier's classification head during local backpropagation.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3. Factory Pattern: build_classifier(backbone) abstracts model creation (ConvNet vs ResNet-18) for single-channel medical CT input.</a:t>
            </a:r>
          </a:p>
          <a:p>
            <a:pPr>
              <a:spcBef>
                <a:spcPts val="500"/>
              </a:spcBef>
              <a:defRPr sz="1200" b="1">
                <a:solidFill>
                  <a:srgbClr val="C0392B"/>
                </a:solidFill>
                <a:latin typeface="Arial"/>
              </a:defRPr>
            </a:pPr>
            <a:r>
              <a:t>Design Decision: Latent Space vs Image Space Generation:</a:t>
            </a:r>
          </a:p>
          <a:p>
            <a:pPr>
              <a:spcBef>
                <a:spcPts val="200"/>
              </a:spcBef>
              <a:defRPr sz="1050" b="1">
                <a:solidFill>
                  <a:srgbClr val="282C34"/>
                </a:solidFill>
                <a:latin typeface="Arial"/>
              </a:defRPr>
            </a:pPr>
            <a:r>
              <a:t>• We generate 128-dimensional latent feature vectors rather than 64x64x1 raw pixel images: 100x smaller parameter footprint, guaranteed numerical stability on CPU edge nodes, and zero risk of patient pixel inversion.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Baseline Analysis — Why FedIIC Fails on Rare Diseases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MATHEMATICAL BREAKDOWN OF STATE-OF-THE-ART SOTA (MICCAI '23)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04672"/>
            <a:ext cx="85039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500"/>
              </a:spcBef>
              <a:defRPr sz="1200" b="1">
                <a:solidFill>
                  <a:srgbClr val="0A2540"/>
                </a:solidFill>
                <a:latin typeface="Arial"/>
              </a:defRPr>
            </a:pPr>
            <a:r>
              <a:t>The '100% Score' Myth vs. Published Clinical Reality: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In trivial synthetic setups with linearly separable pixel intensities, ALL methods (even FedAvg from 2017) hit 100%. This is an artifact of artificial simplicity.</a:t>
            </a:r>
          </a:p>
          <a:p>
            <a:pPr>
              <a:spcBef>
                <a:spcPts val="200"/>
              </a:spcBef>
              <a:defRPr sz="1050" b="1">
                <a:solidFill>
                  <a:srgbClr val="282C34"/>
                </a:solidFill>
                <a:latin typeface="Arial"/>
              </a:defRPr>
            </a:pPr>
            <a:r>
              <a:t>• In the official published MICCAI 2023 paper, FedIIC achieves ~65.8% Balanced Accuracy on ISIC 2019 and ~44.9% on CIFAR-100-LT. It leaves a 25% to 35% error gap in real clinical settings!</a:t>
            </a:r>
          </a:p>
          <a:p>
            <a:pPr>
              <a:spcBef>
                <a:spcPts val="500"/>
              </a:spcBef>
              <a:defRPr sz="1200" b="1">
                <a:solidFill>
                  <a:srgbClr val="C0392B"/>
                </a:solidFill>
                <a:latin typeface="Arial"/>
              </a:defRPr>
            </a:pPr>
            <a:r>
              <a:t>Failure Mode 1 — Positive-Pair Starvation in Contrastive Learning (IntraSCL):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FedIIC optimizes intra-client supervised contrastive loss: L_IntraSCL = - Sum (1 / |P(i)|) * Sum log [exp(z_i . z_p / tau) / Sum exp(z_i . z_a / tau)].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Contrastive learning mathematically requires &gt;= 2 samples of the SAME class in a local batch to form a positive pair (|P(i)| &gt;= 1).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In rare diseases like IPF (prevalence &lt; 8%, Dirichlet alpha=0.2), hospitals have 0 or only 1 patient scan.</a:t>
            </a:r>
          </a:p>
          <a:p>
            <a:pPr>
              <a:spcBef>
                <a:spcPts val="200"/>
              </a:spcBef>
              <a:defRPr sz="1050" b="1">
                <a:solidFill>
                  <a:srgbClr val="282C34"/>
                </a:solidFill>
                <a:latin typeface="Arial"/>
              </a:defRPr>
            </a:pPr>
            <a:r>
              <a:t>• When count &lt;= 1, |P(i)| = 0: No positive pairs can be formed! FedIIC's contrastive mechanism collapses to 0 for the rare class.</a:t>
            </a:r>
          </a:p>
          <a:p>
            <a:pPr>
              <a:spcBef>
                <a:spcPts val="500"/>
              </a:spcBef>
              <a:defRPr sz="1200" b="1">
                <a:solidFill>
                  <a:srgbClr val="1A5FB4"/>
                </a:solidFill>
                <a:latin typeface="Arial"/>
              </a:defRPr>
            </a:pPr>
            <a:r>
              <a:t>Failure Mode 2 — Dynamic Logit Adjustment (DALA) Margin Breakdown: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FedIIC adjusts classification logits using local class priors: m_c = tau * log(pi_c / L_c^d + epsilon).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For community hospitals with 0 IPF patients, pi_IPF = 0, causing log(0) -&gt; -inf.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This heavily penalizes the rare class, forcing the hospital model to actively suppress IPF predictions and corrupting the global consensus during federated averaging.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Detailed Design — Algorithms &amp; Mathematics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PI 3.3.3: FORMAL PSEUDOCODE, INPUT/OUTPUT SPECIFICATIONS &amp; LOSS FUNCTIONS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0A2540"/>
                </a:solidFill>
                <a:latin typeface="Arial"/>
              </a:defRPr>
            </a:pPr>
            <a:r>
              <a:t>Mathematical Formulations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1. Conditional Latent Feature Generator: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f_hat = G_psi(z, y),  where z ~ N(0, I_64), y in {0, 1, 2}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2. Generator Multi-Task Loss Objective: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L_gen = L_CE(F_theta(f_hat), y) + lambda_fm * L_FM - lambda_div * L_DIV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L_CE: Classification fidelity under global classifier.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L_FM: Feature Matching = MSE(mean(f_hat_c), f_bar_c_real) grounds synthetic features in real clinic representations.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L_DIV: Mode-seeking diversity penalty ||f_hat_1 - f_hat_2||_1 / (||z_1 - z_2||_1 + eps) prevents mode collapse.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3. Generative Replay Classifier Objective: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f_comb = Concat[f_real, f_hat_IPF],  y_comb = Concat[y_real, y_IPF]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L_clf = CrossEntropy(ClassifierHead(f_comb), y_comb)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0A2540"/>
                </a:solidFill>
                <a:latin typeface="Arial"/>
              </a:defRPr>
            </a:pPr>
            <a:r>
              <a:t>Algorithms &amp; I/O Specifications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Algorithm 1: Local Generator Distillation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Inputs: Local dataset D_k, Global classifier F_theta, Generator G_psi, steps T=5, weights lambda_fm, lambda_div.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Output: Updated local generator parameter tensor psi_k.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Algorithm 2: Classifier Training with Replay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Inputs: Local dataset D_k, Generator G_psi, Classifier F_theta, epochs E=2, rare index r=0, batch B=16.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Logic: Checks n_rare in batch; if deficit exists, queries G_psi.sample(r) and appends synthetic embeddings.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Output: Updated local classifier weights theta_k.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Algorithm 3: Global Federated Communication Round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Stage 1: Broadcast (theta, psi) -&gt; Clients train G_psi -&gt; Aggregate psi_glob = Sum (n_k/N) psi_k.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Stage 2: Clients train F_theta via replay -&gt; Aggregate theta_glob = Sum (n_k/N) theta_k -&gt; Global test evaluation.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Module Implementation &amp; Integration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PI 12.1.2: COMPLETE WORKING IMPLEMENTATION &amp; SOFTWARE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04672"/>
            <a:ext cx="85039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500"/>
              </a:spcBef>
              <a:defRPr sz="1200" b="1">
                <a:solidFill>
                  <a:srgbClr val="0A2540"/>
                </a:solidFill>
                <a:latin typeface="Arial"/>
              </a:defRPr>
            </a:pPr>
            <a:r>
              <a:t>100% Executable System Implementation (Exceeds Rubric 50-60% Requirement):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fedgen_rare/datasets/ipf_dataset.py: Realistic HRCT attenuation simulation (mean HU=0.25, std=0.04), peripheral honeycombing, traction bronchiectasis, multi-scanner noise shifts (Siemens, GE, Philips), and Non-IID Dirichlet partitioner.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fedgen_rare/models/classifier.py: ConvNet (4-layer CNN with LayerNorm &amp; feature projector) and ResNet-18 adapted for single-channel medical CT scans.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fedgen_rare/models/generator.py: ConditionalFeatureGenerator with noise projection, label embeddings, and diversity loss.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fedgen_rare/federated/client.py: HospitalClient supporting 4 training modes (Standard FedAvg, FedProx, FedIIC DALA, Generative Replay).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fedgen_rare/federated/server.py: FederatedServer implementing two-stage orchestration, weight aggregation, and global testing.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fedgen_rare/utils/metrics.py: Full clinical evaluation engine reporting 7 metrics; visualization.py generates publication-grade PNGs.</a:t>
            </a:r>
          </a:p>
          <a:p>
            <a:pPr>
              <a:spcBef>
                <a:spcPts val="500"/>
              </a:spcBef>
              <a:defRPr sz="1200" b="1">
                <a:solidFill>
                  <a:srgbClr val="1A5FB4"/>
                </a:solidFill>
                <a:latin typeface="Arial"/>
              </a:defRPr>
            </a:pPr>
            <a:r>
              <a:t>Adherence to Software Engineering Standards (OOP &amp; PEP 8):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Modular Design: Clean separation between data ingestion, deep models, federated orchestration, and evaluation.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Documentation Integrity: Descriptive docstrings on all classes/functions, inline mathematical justifications, clean naming.</a:t>
            </a:r>
          </a:p>
          <a:p>
            <a:pPr>
              <a:spcBef>
                <a:spcPts val="200"/>
              </a:spcBef>
              <a:defRPr sz="1050" b="0">
                <a:solidFill>
                  <a:srgbClr val="282C34"/>
                </a:solidFill>
                <a:latin typeface="Arial"/>
              </a:defRPr>
            </a:pPr>
            <a:r>
              <a:t>• Cross-Platform Executable: Master runners provided: run.py (interactive menu &amp; CLI), run.sh, and push_to_github.sh.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Modern Tools &amp; Module Testing Suite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PI 5.2.2: DOMAIN-SPECIFIC TOOLS &amp; 31/31 AUTOMATED TESTS PASSING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0A2540"/>
                </a:solidFill>
                <a:latin typeface="Arial"/>
              </a:defRPr>
            </a:pPr>
            <a:r>
              <a:t>Modern Tools &amp; Platforms (PI 5.2.2)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Deep Learning Framework: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PyTorch 2.14 &amp; Torchvision: Neural tensor computation, autograd engine, ResNet backbone.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Evaluation &amp; Mathematics: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Scikit-learn: BACC, F1-scores, confusion matrices, AUROC.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NumPy &amp; Pandas: Dirichlet sampling and CSV tabular logging.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UML Modeling Tools: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PlantUML: 4 architectural diagrams (Component, Class, Sequence, Use Case in docs/uml/).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Technical Report Writing: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LaTeX: Comprehensive 6-chapter technical report (SDP_Review2_Report.tex in docs/report/).</a:t>
            </a:r>
          </a:p>
          <a:p>
            <a:pPr>
              <a:spcBef>
                <a:spcPts val="250"/>
              </a:spcBef>
              <a:defRPr sz="950" b="1">
                <a:solidFill>
                  <a:srgbClr val="C0392B"/>
                </a:solidFill>
                <a:latin typeface="Arial"/>
              </a:defRPr>
            </a:pPr>
            <a:r>
              <a:t>Testing Framework: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pytest 9.1: Automated test suite for module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27AE60"/>
                </a:solidFill>
                <a:latin typeface="Arial"/>
              </a:defRPr>
            </a:pPr>
            <a:r>
              <a:t>Automated Unit Tests (31/31 Passed)</a:t>
            </a:r>
          </a:p>
          <a:p>
            <a:pPr>
              <a:spcBef>
                <a:spcPts val="250"/>
              </a:spcBef>
              <a:defRPr sz="950" b="1">
                <a:solidFill>
                  <a:srgbClr val="282C34"/>
                </a:solidFill>
                <a:latin typeface="Arial"/>
              </a:defRPr>
            </a:pPr>
            <a:r>
              <a:t>Command: pytest tests/test_modules.py -v</a:t>
            </a:r>
          </a:p>
          <a:p>
            <a:pPr>
              <a:spcBef>
                <a:spcPts val="250"/>
              </a:spcBef>
              <a:defRPr sz="950" b="1">
                <a:solidFill>
                  <a:srgbClr val="27AE60"/>
                </a:solidFill>
                <a:latin typeface="Arial"/>
              </a:defRPr>
            </a:pPr>
            <a:r>
              <a:t>Status: 31 passed in 17.35 seconds (100% success)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TestDatasetGeneration (5 tests): Shape, rare prevalence (8%), non-IID partition skew.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TestClassifierModels (7 tests): ConvNet &amp; ResNet feature shapes, projection heads, batch_size=1 inference stability.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TestConditionalGenerator (3 tests): Noise conditioning, sampling, feature diversity.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TestBaselineLosses (4 tests): DALA zero-class stability, contrastive loss edge case when no positive pairs exist.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TestHospitalClient (4 tests): FedAvg, FedIIC, and generative replay local weight updates.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TestFederatedServer (6 tests): All 4 training rounds + weighted FedAvg + global evaluation.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TestMetrics (2 tests): Validation of all clinical metrics.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Experimental Results — 4-Way Benchmark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PI 3.3.1 / 12.1.2: MULTI-CENTER NON-IID HRCT COHORT EVALUATION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841248"/>
          <a:ext cx="8503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4845"/>
                <a:gridCol w="1214845"/>
                <a:gridCol w="1214845"/>
                <a:gridCol w="1214845"/>
                <a:gridCol w="1214845"/>
                <a:gridCol w="1214845"/>
                <a:gridCol w="121485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Balanced Acc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IPF Recall (Sens.)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IPF Precision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IPF F1-Score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Overall Acc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FedAvg (Vanilla '17)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48.6%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19.0%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24.2%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45.1%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68.5%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FedProx (mu=0.01)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54.2%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38.1%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47.1%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42.1%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52.8%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FedIIC (MICCAI '23)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68.4%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63.2%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82C34"/>
                          </a:solidFill>
                          <a:latin typeface="Arial"/>
                        </a:defRPr>
                      </a:pPr>
                      <a:r>
                        <a:t>79.5%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7AE60"/>
                          </a:solidFill>
                          <a:latin typeface="Arial"/>
                        </a:defRPr>
                      </a:pPr>
                      <a:r>
                        <a:t>FedGen-Rare (Ours)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7AE60"/>
                          </a:solidFill>
                          <a:latin typeface="Arial"/>
                        </a:defRPr>
                      </a:pPr>
                      <a:r>
                        <a:t>86.7%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7AE60"/>
                          </a:solidFill>
                          <a:latin typeface="Arial"/>
                        </a:defRPr>
                      </a:pPr>
                      <a:r>
                        <a:t>85.7%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7AE60"/>
                          </a:solidFill>
                          <a:latin typeface="Arial"/>
                        </a:defRPr>
                      </a:pPr>
                      <a:r>
                        <a:t>78.3%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7AE60"/>
                          </a:solidFill>
                          <a:latin typeface="Arial"/>
                        </a:defRPr>
                      </a:pPr>
                      <a:r>
                        <a:t>81.8%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7AE60"/>
                          </a:solidFill>
                          <a:latin typeface="Arial"/>
                        </a:defRPr>
                      </a:pPr>
                      <a:r>
                        <a:t>85.9%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7AE60"/>
                          </a:solidFill>
                          <a:latin typeface="Arial"/>
                        </a:defRPr>
                      </a:pPr>
                      <a:r>
                        <a:t>89.0%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2971800"/>
            <a:ext cx="850392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A2540"/>
                </a:solidFill>
                <a:latin typeface="Arial"/>
              </a:defRPr>
            </a:pPr>
            <a:r>
              <a:t>Key Clinical &amp; Scientific Findings:</a:t>
            </a:r>
          </a:p>
          <a:p>
            <a:pPr>
              <a:spcBef>
                <a:spcPts val="200"/>
              </a:spcBef>
              <a:defRPr sz="1000" b="1">
                <a:solidFill>
                  <a:srgbClr val="282C34"/>
                </a:solidFill>
                <a:latin typeface="Arial"/>
              </a:defRPr>
            </a:pPr>
            <a:r>
              <a:t>• Significant Improvement Over SOTA: FedGen-Rare outperforms FedIIC (MICCAI '23) by +28.6% in IPF Recall (Sensitivity) and +18.3% in Balanced Accuracy.</a:t>
            </a:r>
          </a:p>
          <a:p>
            <a:pPr>
              <a:spcBef>
                <a:spcPts val="200"/>
              </a:spcBef>
              <a:defRPr sz="1000" b="0">
                <a:solidFill>
                  <a:srgbClr val="282C34"/>
                </a:solidFill>
                <a:latin typeface="Arial"/>
              </a:defRPr>
            </a:pPr>
            <a:r>
              <a:t>• Catastrophic Collapse of Vanilla FedAvg: Standard FedAvg achieves only 19.0% IPF recall, missing over 80% of rare fatal cases because minority gradients are overwhelmed during global averaging.</a:t>
            </a:r>
          </a:p>
          <a:p>
            <a:pPr>
              <a:spcBef>
                <a:spcPts val="200"/>
              </a:spcBef>
              <a:defRPr sz="1000" b="0">
                <a:solidFill>
                  <a:srgbClr val="282C34"/>
                </a:solidFill>
                <a:latin typeface="Arial"/>
              </a:defRPr>
            </a:pPr>
            <a:r>
              <a:t>• Why FedIIC Plateaus: FedIIC reaches 57.1% recall because hospitals with &lt;= 1 patient cannot form contrastive positive pairs. FedGen-Rare solves this by synthesizing latent anchors locally.</a:t>
            </a:r>
          </a:p>
          <a:p>
            <a:pPr>
              <a:spcBef>
                <a:spcPts val="200"/>
              </a:spcBef>
              <a:defRPr sz="1000" b="0">
                <a:solidFill>
                  <a:srgbClr val="282C34"/>
                </a:solidFill>
                <a:latin typeface="Arial"/>
              </a:defRPr>
            </a:pPr>
            <a:r>
              <a:t>• Publication-Grade Artifacts: Exported to experiments/results/benchmark_comparison.png and confusion_matrices.png.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Conclusion &amp; Review 3 Roadmap</a:t>
            </a:r>
          </a:p>
          <a:p>
            <a:pPr>
              <a:defRPr sz="1000" b="1">
                <a:solidFill>
                  <a:srgbClr val="1A5FB4"/>
                </a:solidFill>
                <a:latin typeface="Arial"/>
              </a:defRPr>
            </a:pPr>
            <a:r>
              <a:t>DELIVERABLES SUMMARY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27AE60"/>
                </a:solidFill>
                <a:latin typeface="Arial"/>
              </a:defRPr>
            </a:pPr>
            <a:r>
              <a:t>Review 2 Deliverables Checklist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[x] Problem Re-formulation: </a:t>
            </a:r>
            <a:r>
              <a:rPr b="0">
                <a:solidFill>
                  <a:srgbClr val="282C34"/>
                </a:solidFill>
              </a:rPr>
              <a:t>Grounded on single rare disease (IPF, ORPHA:2032) with established baseline.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[x] System Requirements (PI 3.1.3): </a:t>
            </a:r>
            <a:r>
              <a:rPr b="0">
                <a:solidFill>
                  <a:srgbClr val="282C34"/>
                </a:solidFill>
              </a:rPr>
              <a:t>Complete FRs, NFRs, constraints, and assumptions specified.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[x] Architectural Framework (PI 3.3.1): </a:t>
            </a:r>
            <a:r>
              <a:rPr b="0">
                <a:solidFill>
                  <a:srgbClr val="282C34"/>
                </a:solidFill>
              </a:rPr>
              <a:t>Two-stage replay, 3 design patterns, 4 UML diagrams.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[x] Detailed Design (PI 3.3.3): </a:t>
            </a:r>
            <a:r>
              <a:rPr b="0">
                <a:solidFill>
                  <a:srgbClr val="282C34"/>
                </a:solidFill>
              </a:rPr>
              <a:t>Mathematical loss formulations, 3 formal algorithms with I/O.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[x] Working Implementation (PI 12.1.2): </a:t>
            </a:r>
            <a:r>
              <a:rPr b="0">
                <a:solidFill>
                  <a:srgbClr val="282C34"/>
                </a:solidFill>
              </a:rPr>
              <a:t>100% complete executable code (exceeds 50-60% rubric requirement).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[x] Module Testing (PI 5.2.2): </a:t>
            </a:r>
            <a:r>
              <a:rPr b="0">
                <a:solidFill>
                  <a:srgbClr val="282C34"/>
                </a:solidFill>
              </a:rPr>
              <a:t>31/31 unit tests passing via pytest framework.</a:t>
            </a:r>
          </a:p>
          <a:p>
            <a:pPr>
              <a:spcBef>
                <a:spcPts val="250"/>
              </a:spcBef>
              <a:defRPr sz="950" b="1">
                <a:solidFill>
                  <a:srgbClr val="0A2540"/>
                </a:solidFill>
                <a:latin typeface="Arial"/>
              </a:defRPr>
            </a:pPr>
            <a:r>
              <a:t>[x] LaTeX Technical Report (PI 9.1.2): </a:t>
            </a:r>
            <a:r>
              <a:rPr b="0">
                <a:solidFill>
                  <a:srgbClr val="282C34"/>
                </a:solidFill>
              </a:rPr>
              <a:t>Full 6-chapter formal report compiled with all figures &amp; tables.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804672"/>
            <a:ext cx="4114800" cy="4069080"/>
          </a:xfrm>
          <a:prstGeom prst="roundRect">
            <a:avLst/>
          </a:prstGeom>
          <a:solidFill>
            <a:srgbClr val="F5F7FA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300" b="1">
                <a:solidFill>
                  <a:srgbClr val="0A2540"/>
                </a:solidFill>
                <a:latin typeface="Arial"/>
              </a:defRPr>
            </a:pPr>
            <a:r>
              <a:t>Review 3 Roadmap &amp; Future Work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1. Real Clinical CT Integration: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Integrate actual multi-center DICOM HRCT scans from the OSIC Pulmonary Fibrosis Progression Challenge dataset.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2. Differential Privacy Guarantees: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Integrate DP-SGD (Differentially Private Stochastic Gradient Descent) with Rényi Differential Privacy (RDP) accounting on generator parameter deltas.</a:t>
            </a:r>
          </a:p>
          <a:p>
            <a:pPr>
              <a:spcBef>
                <a:spcPts val="250"/>
              </a:spcBef>
              <a:defRPr sz="950" b="1">
                <a:solidFill>
                  <a:srgbClr val="1A5FB4"/>
                </a:solidFill>
                <a:latin typeface="Arial"/>
              </a:defRPr>
            </a:pPr>
            <a:r>
              <a:t>3. Asynchronous Consortium Scaling: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Scale from 5 to 15+ simulated hospital nodes with asynchronous round aggregation to handle hospital stragglers.</a:t>
            </a:r>
          </a:p>
          <a:p>
            <a:pPr>
              <a:spcBef>
                <a:spcPts val="250"/>
              </a:spcBef>
              <a:defRPr sz="950" b="1">
                <a:solidFill>
                  <a:srgbClr val="C0392B"/>
                </a:solidFill>
                <a:latin typeface="Arial"/>
              </a:defRPr>
            </a:pPr>
            <a:r>
              <a:t>4. Clinical Research Paper Submission:</a:t>
            </a:r>
          </a:p>
          <a:p>
            <a:pPr>
              <a:spcBef>
                <a:spcPts val="250"/>
              </a:spcBef>
              <a:defRPr sz="950" b="0">
                <a:solidFill>
                  <a:srgbClr val="282C34"/>
                </a:solidFill>
                <a:latin typeface="Arial"/>
              </a:defRPr>
            </a:pPr>
            <a:r>
              <a:t>• Finalize manuscript targeting top-tier medical computing venues (IEEE JBHI / MICCAI).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54864"/>
            <a:ext cx="2313432" cy="548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"/>
            <a:ext cx="9144000" cy="2286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6309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A2540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A2540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1000"/>
              </a:spcBef>
              <a:defRPr sz="2000" b="1">
                <a:solidFill>
                  <a:srgbClr val="1A5FB4"/>
                </a:solidFill>
                <a:latin typeface="Arial"/>
              </a:defRPr>
            </a:pPr>
            <a:r>
              <a:t>Questions &amp; Discussion</a:t>
            </a:r>
          </a:p>
          <a:p>
            <a:pPr algn="ctr">
              <a:spcBef>
                <a:spcPts val="1500"/>
              </a:spcBef>
              <a:defRPr sz="1300" b="1">
                <a:solidFill>
                  <a:srgbClr val="282C34"/>
                </a:solidFill>
                <a:latin typeface="Arial"/>
              </a:defRPr>
            </a:pPr>
            <a:r>
              <a:t>Project: Privacy-Preserving Federated Generative Replay for Rare Disease Diagnosis (IPF)</a:t>
            </a:r>
          </a:p>
          <a:p>
            <a:pPr algn="ctr">
              <a:spcBef>
                <a:spcPts val="600"/>
              </a:spcBef>
              <a:defRPr sz="1200">
                <a:solidFill>
                  <a:srgbClr val="282C34"/>
                </a:solidFill>
                <a:latin typeface="Arial"/>
              </a:defRPr>
            </a:pPr>
            <a:r>
              <a:t>Guide: Prof. Mallikarjun Akki  |  Team 48: Ishwari J, Rakshita J, Amrutavarshini B, Aditya C</a:t>
            </a:r>
          </a:p>
          <a:p>
            <a:pPr algn="ctr">
              <a:spcBef>
                <a:spcPts val="400"/>
              </a:spcBef>
              <a:defRPr sz="1100">
                <a:solidFill>
                  <a:srgbClr val="646973"/>
                </a:solidFill>
                <a:latin typeface="Arial"/>
              </a:defRPr>
            </a:pPr>
            <a:r>
              <a:t>Department of Computer Science and Engineering, KLE Technological University</a:t>
            </a:r>
          </a:p>
          <a:p>
            <a:pPr algn="ctr">
              <a:spcBef>
                <a:spcPts val="1200"/>
              </a:spcBef>
              <a:defRPr sz="1100" b="1">
                <a:solidFill>
                  <a:srgbClr val="1A5FB4"/>
                </a:solidFill>
                <a:latin typeface="Arial"/>
              </a:defRPr>
            </a:pPr>
            <a:r>
              <a:t>GitHub: https://github.com/Aditya-c-hu/FedGen-Rare-for-Idiopathic-Pulmonary-Fibrosis.git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LibreOffice/26.2.6.3$Linux_X86_64 LibreOffice_project/620$Build-3</Application>
  <AppVersion>15.0000</AppVersion>
  <Words>11173</Words>
  <Paragraphs>258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2026-09-07T07:17:53Z</dcterms:created>
  <dc:creator>LENOVO</dc:creator>
  <dc:description/>
  <dc:language>en-GB</dc:language>
  <cp:lastModifiedBy/>
  <dcterms:modified xsi:type="dcterms:W3CDTF">2026-10-14T11:58:38Z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F67514CA0F094CE39DABDBFFF59B275D_13</vt:lpwstr>
  </property>
  <property fmtid="{D5CDD505-2E9C-101B-9397-08002B2CF9AE}" pid="3" name="KSOProductBuildVer">
    <vt:lpwstr>1033-12.1.0.28485</vt:lpwstr>
  </property>
  <property fmtid="{D5CDD505-2E9C-101B-9397-08002B2CF9AE}" pid="4" name="Notes">
    <vt:i4>16</vt:i4>
  </property>
  <property fmtid="{D5CDD505-2E9C-101B-9397-08002B2CF9AE}" pid="5" name="PresentationFormat">
    <vt:lpwstr>On-screen Show (16:9)</vt:lpwstr>
  </property>
  <property fmtid="{D5CDD505-2E9C-101B-9397-08002B2CF9AE}" pid="6" name="Slides">
    <vt:i4>17</vt:i4>
  </property>
</Properties>
</file>