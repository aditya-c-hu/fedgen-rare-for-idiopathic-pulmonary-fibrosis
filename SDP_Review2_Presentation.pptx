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GB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en-GB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GB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en-GB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GB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lstStyle>
            <a:lvl1pPr indent="0" algn="l">
              <a:buNone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GB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GB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595680" y="1779120"/>
            <a:ext cx="205812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Team - 48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Google Shape;55;p13"/>
          <p:cNvPicPr/>
          <p:nvPr/>
        </p:nvPicPr>
        <p:blipFill>
          <a:blip r:embed="rId1"/>
          <a:stretch/>
        </p:blipFill>
        <p:spPr>
          <a:xfrm>
            <a:off x="6752520" y="58320"/>
            <a:ext cx="2315520" cy="550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3" name="Google Shape;56;p13"/>
          <p:cNvCxnSpPr/>
          <p:nvPr/>
        </p:nvCxnSpPr>
        <p:spPr>
          <a:xfrm>
            <a:off x="-20880" y="673920"/>
            <a:ext cx="9159480" cy="35280"/>
          </a:xfrm>
          <a:prstGeom prst="straightConnector1">
            <a:avLst/>
          </a:prstGeom>
          <a:ln w="9525">
            <a:solidFill>
              <a:srgbClr val="595959"/>
            </a:solidFill>
            <a:round/>
          </a:ln>
        </p:spPr>
      </p:cxnSp>
      <p:graphicFrame>
        <p:nvGraphicFramePr>
          <p:cNvPr id="34" name="Google Shape;57;p13"/>
          <p:cNvGraphicFramePr/>
          <p:nvPr/>
        </p:nvGraphicFramePr>
        <p:xfrm>
          <a:off x="1005480" y="2346480"/>
          <a:ext cx="7238520" cy="1980000"/>
        </p:xfrm>
        <a:graphic>
          <a:graphicData uri="http://schemas.openxmlformats.org/drawingml/2006/table">
            <a:tbl>
              <a:tblPr/>
              <a:tblGrid>
                <a:gridCol w="2412720"/>
                <a:gridCol w="2412720"/>
                <a:gridCol w="2412720"/>
              </a:tblGrid>
              <a:tr h="38088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NAME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ROLL NO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USN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Ishwari J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117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01FE23BCS093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Rakshita J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217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01FE23BCS082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Amrutavarshini B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219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01FE23BCI024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Aditya C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217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01FE23BCI043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extBox 1"/>
          <p:cNvSpPr/>
          <p:nvPr/>
        </p:nvSpPr>
        <p:spPr>
          <a:xfrm>
            <a:off x="152280" y="1401840"/>
            <a:ext cx="89449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>
              <a:lnSpc>
                <a:spcPct val="100000"/>
              </a:lnSpc>
              <a:defRPr sz="1300" b="1">
                <a:solidFill>
                  <a:srgbClr val="0A2540"/>
                </a:solidFill>
                <a:latin typeface="Arial"/>
              </a:defRPr>
            </a:pPr>
            <a:r>
              <a:t>Title : Privacy-Preserving Federated Generative Replay for Rare Disease Diagnosis: A Multi-Center Study on Idiopathic Pulmonary Fibrosis (IPF)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2"/>
          <p:cNvSpPr/>
          <p:nvPr/>
        </p:nvSpPr>
        <p:spPr>
          <a:xfrm>
            <a:off x="5645520" y="4497840"/>
            <a:ext cx="2787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just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Guide : Mallikarjun Akki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Box 4"/>
          <p:cNvSpPr/>
          <p:nvPr/>
        </p:nvSpPr>
        <p:spPr>
          <a:xfrm>
            <a:off x="2328480" y="831240"/>
            <a:ext cx="45925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just">
              <a:lnSpc>
                <a:spcPct val="100000"/>
              </a:lnSpc>
              <a:defRPr sz="1400" b="1">
                <a:solidFill>
                  <a:srgbClr val="1A5FB4"/>
                </a:solidFill>
                <a:latin typeface="Arial"/>
              </a:defRPr>
            </a:pPr>
            <a:r>
              <a:t>Senior Design Project (SDP) – Review 2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54864"/>
            <a:ext cx="2313432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"/>
            <a:ext cx="9144000" cy="22860"/>
          </a:xfrm>
          <a:prstGeom prst="rect">
            <a:avLst/>
          </a:prstGeom>
          <a:solidFill>
            <a:srgbClr val="1A5FB4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A2540"/>
                </a:solidFill>
                <a:latin typeface="Arial"/>
              </a:defRPr>
            </a:pPr>
            <a:r>
              <a:t>Review 1 Feedback &amp; Problem Formulation</a:t>
            </a:r>
          </a:p>
          <a:p>
            <a:pPr>
              <a:defRPr sz="950" b="1">
                <a:solidFill>
                  <a:srgbClr val="1A5FB4"/>
                </a:solidFill>
                <a:latin typeface="Arial"/>
              </a:defRPr>
            </a:pPr>
            <a:r>
              <a:t>ADDRESSING REVIEWER CRITIQUE &amp; RESEARCH JUSTIFICATION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04672"/>
            <a:ext cx="4114800" cy="4069080"/>
          </a:xfrm>
          <a:prstGeom prst="roundRect">
            <a:avLst/>
          </a:prstGeom>
          <a:solidFill>
            <a:srgbClr val="F5F7FA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300" b="1">
                <a:solidFill>
                  <a:srgbClr val="0A2540"/>
                </a:solidFill>
                <a:latin typeface="Arial"/>
              </a:defRPr>
            </a:pPr>
            <a:r>
              <a:t>1. Reviewer Feedback &amp; Critique</a:t>
            </a:r>
          </a:p>
          <a:p>
            <a:pPr>
              <a:spcBef>
                <a:spcPts val="300"/>
              </a:spcBef>
              <a:defRPr sz="1050" b="1">
                <a:solidFill>
                  <a:srgbClr val="C0392B"/>
                </a:solidFill>
                <a:latin typeface="Arial"/>
              </a:defRPr>
            </a:pPr>
            <a:r>
              <a:t>The Critique:</a:t>
            </a:r>
          </a:p>
          <a:p>
            <a:pPr>
              <a:spcBef>
                <a:spcPts val="3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"Federated learning cannot be done for multiple rare diseases simultaneously. You must focus on a single rare disease — either a unique one or an existing baseline having clear scope for improvement."</a:t>
            </a:r>
          </a:p>
          <a:p>
            <a:pPr>
              <a:spcBef>
                <a:spcPts val="300"/>
              </a:spcBef>
              <a:defRPr sz="1050" b="1">
                <a:solidFill>
                  <a:srgbClr val="0A2540"/>
                </a:solidFill>
                <a:latin typeface="Arial"/>
              </a:defRPr>
            </a:pPr>
            <a:r>
              <a:t>Why Reviewer Was Scientifically Correct:</a:t>
            </a:r>
          </a:p>
          <a:p>
            <a:pPr>
              <a:spcBef>
                <a:spcPts val="3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• Cross-Modality Incompatibility: Different rare conditions require incompatible scans (Retinal Fundus vs Brain MRI vs Chest HRCT).</a:t>
            </a:r>
          </a:p>
          <a:p>
            <a:pPr>
              <a:spcBef>
                <a:spcPts val="3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• Gradient Orthogonality: Hospitals specializing in different pathologies produce conflicting gradients that cause severe client drift and feature collapse.</a:t>
            </a:r>
          </a:p>
          <a:p>
            <a:pPr>
              <a:spcBef>
                <a:spcPts val="3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• Real Clinical Practice: Medical federations (e.g., OSIC, BraTS) always organize around a single targeted disease entity.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804672"/>
            <a:ext cx="4114800" cy="4069080"/>
          </a:xfrm>
          <a:prstGeom prst="roundRect">
            <a:avLst/>
          </a:prstGeom>
          <a:solidFill>
            <a:srgbClr val="F5F7FA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300" b="1">
                <a:solidFill>
                  <a:srgbClr val="0A2540"/>
                </a:solidFill>
                <a:latin typeface="Arial"/>
              </a:defRPr>
            </a:pPr>
            <a:r>
              <a:t>2. Selected Focus &amp; Scope for Improvement</a:t>
            </a:r>
          </a:p>
          <a:p>
            <a:pPr>
              <a:spcBef>
                <a:spcPts val="300"/>
              </a:spcBef>
              <a:defRPr sz="1050" b="1">
                <a:solidFill>
                  <a:srgbClr val="1A5FB4"/>
                </a:solidFill>
                <a:latin typeface="Arial"/>
              </a:defRPr>
            </a:pPr>
            <a:r>
              <a:t>Selected Rare Pathology:</a:t>
            </a:r>
          </a:p>
          <a:p>
            <a:pPr>
              <a:spcBef>
                <a:spcPts val="3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• Idiopathic Pulmonary Fibrosis (IPF, ORPHA:2032) — an ultra-rare, fatal interstitial lung disease with 2–3 yr median survival.</a:t>
            </a:r>
          </a:p>
          <a:p>
            <a:pPr>
              <a:spcBef>
                <a:spcPts val="300"/>
              </a:spcBef>
              <a:defRPr sz="1050" b="1">
                <a:solidFill>
                  <a:srgbClr val="1A5FB4"/>
                </a:solidFill>
                <a:latin typeface="Arial"/>
              </a:defRPr>
            </a:pPr>
            <a:r>
              <a:t>Identified State-of-the-Art Baseline:</a:t>
            </a:r>
          </a:p>
          <a:p>
            <a:pPr>
              <a:spcBef>
                <a:spcPts val="3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• FedIIC (MICCAI '23 Early Accept) — published framework for class-imbalanced medical image classification.</a:t>
            </a:r>
          </a:p>
          <a:p>
            <a:pPr>
              <a:spcBef>
                <a:spcPts val="300"/>
              </a:spcBef>
              <a:defRPr sz="1050" b="1">
                <a:solidFill>
                  <a:srgbClr val="C0392B"/>
                </a:solidFill>
                <a:latin typeface="Arial"/>
              </a:defRPr>
            </a:pPr>
            <a:r>
              <a:t>Clear Scope for Improvement:</a:t>
            </a:r>
          </a:p>
          <a:p>
            <a:pPr>
              <a:spcBef>
                <a:spcPts val="3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• FedIIC relies on contrastive pairs (IntraSCL) requiring ≥ 2 samples per class in local hospital batches.</a:t>
            </a:r>
          </a:p>
          <a:p>
            <a:pPr>
              <a:spcBef>
                <a:spcPts val="3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• In true rare diseases, hospitals have 0 or 1 patient scan → FedIIC mathematically collapses.</a:t>
            </a:r>
          </a:p>
          <a:p>
            <a:pPr>
              <a:spcBef>
                <a:spcPts val="300"/>
              </a:spcBef>
              <a:defRPr sz="1050" b="0">
                <a:solidFill>
                  <a:srgbClr val="27AE60"/>
                </a:solidFill>
                <a:latin typeface="Arial"/>
              </a:defRPr>
            </a:pPr>
            <a:r>
              <a:t>• FedGen-Rare introduces generative latent replay to restore balanced learning even for zero-patient clinics.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54864"/>
            <a:ext cx="2313432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"/>
            <a:ext cx="9144000" cy="22860"/>
          </a:xfrm>
          <a:prstGeom prst="rect">
            <a:avLst/>
          </a:prstGeom>
          <a:solidFill>
            <a:srgbClr val="1A5FB4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A2540"/>
                </a:solidFill>
                <a:latin typeface="Arial"/>
              </a:defRPr>
            </a:pPr>
            <a:r>
              <a:t>Target Pathology — Idiopathic Pulmonary Fibrosis (IPF)</a:t>
            </a:r>
          </a:p>
          <a:p>
            <a:pPr>
              <a:defRPr sz="950" b="1">
                <a:solidFill>
                  <a:srgbClr val="1A5FB4"/>
                </a:solidFill>
                <a:latin typeface="Arial"/>
              </a:defRPr>
            </a:pPr>
            <a:r>
              <a:t>CLINICAL PROFILE, DIAGNOSTIC DILEMMA &amp; FEDERATED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85039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250" b="1">
                <a:solidFill>
                  <a:srgbClr val="0A2540"/>
                </a:solidFill>
                <a:latin typeface="Arial"/>
              </a:defRPr>
            </a:pPr>
            <a:r>
              <a:t>Clinical Severity &amp; Epidemiological Rarity (ORPHA:2032):</a:t>
            </a:r>
          </a:p>
          <a:p>
            <a:pPr>
              <a:spcBef>
                <a:spcPts val="200"/>
              </a:spcBef>
              <a:defRPr sz="1100" b="0">
                <a:solidFill>
                  <a:srgbClr val="282C34"/>
                </a:solidFill>
                <a:latin typeface="Arial"/>
              </a:defRPr>
            </a:pPr>
            <a:r>
              <a:t>• IPF is an irreversible, chronic, fibrosing interstitial pneumonia of unknown cause, primarily occurring in older adults.</a:t>
            </a:r>
          </a:p>
          <a:p>
            <a:pPr>
              <a:spcBef>
                <a:spcPts val="200"/>
              </a:spcBef>
              <a:defRPr sz="1100" b="0">
                <a:solidFill>
                  <a:srgbClr val="282C34"/>
                </a:solidFill>
                <a:latin typeface="Arial"/>
              </a:defRPr>
            </a:pPr>
            <a:r>
              <a:t>• Median survival following diagnosis is merely 2 to 3 years — worse prognosis than most common malignancies.</a:t>
            </a:r>
          </a:p>
          <a:p>
            <a:pPr>
              <a:spcBef>
                <a:spcPts val="200"/>
              </a:spcBef>
              <a:defRPr sz="1100" b="0">
                <a:solidFill>
                  <a:srgbClr val="282C34"/>
                </a:solidFill>
                <a:latin typeface="Arial"/>
              </a:defRPr>
            </a:pPr>
            <a:r>
              <a:t>• Rarity: Prevalence is estimated at ~10 to 60 cases per 100,000 (~0.05%), representing &lt; 8% of thoracic scans in general pulmonary clinics.</a:t>
            </a:r>
          </a:p>
          <a:p>
            <a:pPr>
              <a:spcBef>
                <a:spcPts val="600"/>
              </a:spcBef>
              <a:defRPr sz="1250" b="1">
                <a:solidFill>
                  <a:srgbClr val="1A5FB4"/>
                </a:solidFill>
                <a:latin typeface="Arial"/>
              </a:defRPr>
            </a:pPr>
            <a:r>
              <a:t>The Diagnostic Dilemma on High-Resolution CT (HRCT):</a:t>
            </a:r>
          </a:p>
          <a:p>
            <a:pPr>
              <a:spcBef>
                <a:spcPts val="200"/>
              </a:spcBef>
              <a:defRPr sz="1100" b="0">
                <a:solidFill>
                  <a:srgbClr val="282C34"/>
                </a:solidFill>
                <a:latin typeface="Arial"/>
              </a:defRPr>
            </a:pPr>
            <a:r>
              <a:t>• Visual Mimicry: Early IPF shares identical non-specific ground-glass opacities (GGO) with common COPD and Non-IPF ILD.</a:t>
            </a:r>
          </a:p>
          <a:p>
            <a:pPr>
              <a:spcBef>
                <a:spcPts val="200"/>
              </a:spcBef>
              <a:defRPr sz="1100" b="0">
                <a:solidFill>
                  <a:srgbClr val="282C34"/>
                </a:solidFill>
                <a:latin typeface="Arial"/>
              </a:defRPr>
            </a:pPr>
            <a:r>
              <a:t>• Diagnostic Hallmark: UIP pattern (subpleural, basal-predominant reticular honeycombing and traction bronchiectasis).</a:t>
            </a:r>
          </a:p>
          <a:p>
            <a:pPr>
              <a:spcBef>
                <a:spcPts val="200"/>
              </a:spcBef>
              <a:defRPr sz="1100" b="0">
                <a:solidFill>
                  <a:srgbClr val="282C34"/>
                </a:solidFill>
                <a:latin typeface="Arial"/>
              </a:defRPr>
            </a:pPr>
            <a:r>
              <a:t>• Community Hospital Bottleneck: General radiologists in district centers see &lt; 3 cases annually, leading to misdiagnosis.</a:t>
            </a:r>
          </a:p>
          <a:p>
            <a:pPr>
              <a:spcBef>
                <a:spcPts val="600"/>
              </a:spcBef>
              <a:defRPr sz="1250" b="1">
                <a:solidFill>
                  <a:srgbClr val="C0392B"/>
                </a:solidFill>
                <a:latin typeface="Arial"/>
              </a:defRPr>
            </a:pPr>
            <a:r>
              <a:t>Why Federated Learning is Mandatory (The Privacy-Scarcity Paradox):</a:t>
            </a:r>
          </a:p>
          <a:p>
            <a:pPr>
              <a:spcBef>
                <a:spcPts val="200"/>
              </a:spcBef>
              <a:defRPr sz="1100" b="0">
                <a:solidFill>
                  <a:srgbClr val="282C34"/>
                </a:solidFill>
                <a:latin typeface="Arial"/>
              </a:defRPr>
            </a:pPr>
            <a:r>
              <a:t>• Privacy Mandates: HIPAA and GDPR strictly prohibit centralizing high-resolution patient DICOM CT scans across health systems.</a:t>
            </a:r>
          </a:p>
          <a:p>
            <a:pPr>
              <a:spcBef>
                <a:spcPts val="200"/>
              </a:spcBef>
              <a:defRPr sz="1100" b="0">
                <a:solidFill>
                  <a:srgbClr val="282C34"/>
                </a:solidFill>
                <a:latin typeface="Arial"/>
              </a:defRPr>
            </a:pPr>
            <a:r>
              <a:t>• Scarcity Dilemma: Individual hospital silos lack sufficient rare cases to train deep networks independently.</a:t>
            </a:r>
          </a:p>
          <a:p>
            <a:pPr>
              <a:spcBef>
                <a:spcPts val="200"/>
              </a:spcBef>
              <a:defRPr sz="1100" b="1">
                <a:solidFill>
                  <a:srgbClr val="282C34"/>
                </a:solidFill>
                <a:latin typeface="Arial"/>
              </a:defRPr>
            </a:pPr>
            <a:r>
              <a:t>• Solution: Collaborative federated learning where hospitals train jointly without moving private CT scans.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54864"/>
            <a:ext cx="2313432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"/>
            <a:ext cx="9144000" cy="22860"/>
          </a:xfrm>
          <a:prstGeom prst="rect">
            <a:avLst/>
          </a:prstGeom>
          <a:solidFill>
            <a:srgbClr val="1A5FB4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A2540"/>
                </a:solidFill>
                <a:latin typeface="Arial"/>
              </a:defRPr>
            </a:pPr>
            <a:r>
              <a:t>System Requirements Specification</a:t>
            </a:r>
          </a:p>
          <a:p>
            <a:pPr>
              <a:defRPr sz="950" b="1">
                <a:solidFill>
                  <a:srgbClr val="1A5FB4"/>
                </a:solidFill>
                <a:latin typeface="Arial"/>
              </a:defRPr>
            </a:pPr>
            <a:r>
              <a:t>PI 3.1.3: FUNCTIONAL, NON-FUNCTIONAL REQUIREMENTS &amp;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04672"/>
            <a:ext cx="4114800" cy="4069080"/>
          </a:xfrm>
          <a:prstGeom prst="roundRect">
            <a:avLst/>
          </a:prstGeom>
          <a:solidFill>
            <a:srgbClr val="F5F7FA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300" b="1">
                <a:solidFill>
                  <a:srgbClr val="0A2540"/>
                </a:solidFill>
                <a:latin typeface="Arial"/>
              </a:defRPr>
            </a:pPr>
            <a:r>
              <a:t>Functional Requirements (FRs)</a:t>
            </a:r>
          </a:p>
          <a:p>
            <a:pPr>
              <a:spcBef>
                <a:spcPts val="30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• FR1: Non-IID Multi-Center Partitioning: </a:t>
            </a:r>
            <a:r>
              <a:rPr b="0">
                <a:solidFill>
                  <a:srgbClr val="282C34"/>
                </a:solidFill>
              </a:rPr>
              <a:t>Simulate realistic hospital scarcity using Dirichlet skew (alpha=0.2) across 5 hospital nodes.</a:t>
            </a:r>
          </a:p>
          <a:p>
            <a:pPr>
              <a:spcBef>
                <a:spcPts val="30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• FR2: Local Diagnostic Training: </a:t>
            </a:r>
            <a:r>
              <a:rPr b="0">
                <a:solidFill>
                  <a:srgbClr val="282C34"/>
                </a:solidFill>
              </a:rPr>
              <a:t>Train diagnostic backbones locally with standard CE, FedProx, FedIIC, and Generative Replay.</a:t>
            </a:r>
          </a:p>
          <a:p>
            <a:pPr>
              <a:spcBef>
                <a:spcPts val="30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• FR3: Federated Generator Distillation: </a:t>
            </a:r>
            <a:r>
              <a:rPr b="0">
                <a:solidFill>
                  <a:srgbClr val="282C34"/>
                </a:solidFill>
              </a:rPr>
              <a:t>Train conditional feature generator G_psi using knowledge distilled from global classifier.</a:t>
            </a:r>
          </a:p>
          <a:p>
            <a:pPr>
              <a:spcBef>
                <a:spcPts val="30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• FR4: Dynamic Generative Replay: </a:t>
            </a:r>
            <a:r>
              <a:rPr b="0">
                <a:solidFill>
                  <a:srgbClr val="282C34"/>
                </a:solidFill>
              </a:rPr>
              <a:t>Synthesize rare IPF latent features locally when clinic batch contains &lt; target quota.</a:t>
            </a:r>
          </a:p>
          <a:p>
            <a:pPr>
              <a:spcBef>
                <a:spcPts val="30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• FR5: Federated Server Aggregation: </a:t>
            </a:r>
            <a:r>
              <a:rPr b="0">
                <a:solidFill>
                  <a:srgbClr val="282C34"/>
                </a:solidFill>
              </a:rPr>
              <a:t>Aggregate classifier weights theta and generator weights psi via weighted FedAvg.</a:t>
            </a:r>
          </a:p>
          <a:p>
            <a:pPr>
              <a:spcBef>
                <a:spcPts val="30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• FR6: Comprehensive Benchmarking: </a:t>
            </a:r>
            <a:r>
              <a:rPr b="0">
                <a:solidFill>
                  <a:srgbClr val="282C34"/>
                </a:solidFill>
              </a:rPr>
              <a:t>Evaluate across 7 clinical metrics: BACC, IPF Recall, IPF F1, Macro-F1, Precision, Acc, AUROC.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804672"/>
            <a:ext cx="4114800" cy="4069080"/>
          </a:xfrm>
          <a:prstGeom prst="roundRect">
            <a:avLst/>
          </a:prstGeom>
          <a:solidFill>
            <a:srgbClr val="F5F7FA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300" b="1">
                <a:solidFill>
                  <a:srgbClr val="0A2540"/>
                </a:solidFill>
                <a:latin typeface="Arial"/>
              </a:defRPr>
            </a:pPr>
            <a:r>
              <a:t>Non-Functional Requirements &amp; Constraints</a:t>
            </a:r>
          </a:p>
          <a:p>
            <a:pPr>
              <a:spcBef>
                <a:spcPts val="30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• NFR1: Privacy (Zero Raw Data Leakage): </a:t>
            </a:r>
            <a:r>
              <a:rPr b="0">
                <a:solidFill>
                  <a:srgbClr val="282C34"/>
                </a:solidFill>
              </a:rPr>
              <a:t>Raw patient HRCT scans NEVER leave hospital edge nodes. Only model parameter deltas and 128-dim latent vectors are exchanged.</a:t>
            </a:r>
          </a:p>
          <a:p>
            <a:pPr>
              <a:spcBef>
                <a:spcPts val="30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• NFR2: Portability &amp; Hardware Independence: </a:t>
            </a:r>
            <a:r>
              <a:rPr b="0">
                <a:solidFill>
                  <a:srgbClr val="282C34"/>
                </a:solidFill>
              </a:rPr>
              <a:t>Executable across Linux / Windows / macOS, CPU and CUDA GPU nodes without code modification.</a:t>
            </a:r>
          </a:p>
          <a:p>
            <a:pPr>
              <a:spcBef>
                <a:spcPts val="30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• NFR3: Scalability: </a:t>
            </a:r>
            <a:r>
              <a:rPr b="0">
                <a:solidFill>
                  <a:srgbClr val="282C34"/>
                </a:solidFill>
              </a:rPr>
              <a:t>Seamlessly supports 3 to 20 hospital consortium nodes.</a:t>
            </a:r>
          </a:p>
          <a:p>
            <a:pPr>
              <a:spcBef>
                <a:spcPts val="30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• NFR4: Reproducibility: </a:t>
            </a:r>
            <a:r>
              <a:rPr b="0">
                <a:solidFill>
                  <a:srgbClr val="282C34"/>
                </a:solidFill>
              </a:rPr>
              <a:t>Deterministic benchmarking seeded via global seed=42.</a:t>
            </a:r>
          </a:p>
          <a:p>
            <a:pPr>
              <a:spcBef>
                <a:spcPts val="30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• System Constraints:: </a:t>
            </a:r>
            <a:r>
              <a:rPr b="0">
                <a:solidFill>
                  <a:srgbClr val="282C34"/>
                </a:solidFill>
              </a:rPr>
              <a:t>All participant hospitals acquire 64x64 standardized thoracic axial slices. Synchronous round coordination.</a:t>
            </a:r>
          </a:p>
          <a:p>
            <a:pPr>
              <a:spcBef>
                <a:spcPts val="30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• Explicit Assumptions:: </a:t>
            </a:r>
            <a:r>
              <a:rPr b="0">
                <a:solidFill>
                  <a:srgbClr val="282C34"/>
                </a:solidFill>
              </a:rPr>
              <a:t>Hospital nodes maintain active network connectivity during communication rounds; honest-but-curious aggregator.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54864"/>
            <a:ext cx="2313432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"/>
            <a:ext cx="9144000" cy="22860"/>
          </a:xfrm>
          <a:prstGeom prst="rect">
            <a:avLst/>
          </a:prstGeom>
          <a:solidFill>
            <a:srgbClr val="1A5FB4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A2540"/>
                </a:solidFill>
                <a:latin typeface="Arial"/>
              </a:defRPr>
            </a:pPr>
            <a:r>
              <a:t>System Architecture — FedGen-Rare</a:t>
            </a:r>
          </a:p>
          <a:p>
            <a:pPr>
              <a:defRPr sz="950" b="1">
                <a:solidFill>
                  <a:srgbClr val="1A5FB4"/>
                </a:solidFill>
                <a:latin typeface="Arial"/>
              </a:defRPr>
            </a:pPr>
            <a:r>
              <a:t>PI 3.3.1: PICTORIAL ARCHITECTURAL MODEL &amp; TWO-STAGE FEDERATED PIPELINE</a:t>
            </a:r>
          </a:p>
        </p:txBody>
      </p:sp>
      <p:pic>
        <p:nvPicPr>
          <p:cNvPr id="5" name="Picture 4" descr="system_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84124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54864"/>
            <a:ext cx="2313432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"/>
            <a:ext cx="9144000" cy="22860"/>
          </a:xfrm>
          <a:prstGeom prst="rect">
            <a:avLst/>
          </a:prstGeom>
          <a:solidFill>
            <a:srgbClr val="1A5FB4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A2540"/>
                </a:solidFill>
                <a:latin typeface="Arial"/>
              </a:defRPr>
            </a:pPr>
            <a:r>
              <a:t>Baseline Analysis — Why FedIIC Fails on Rare Diseases</a:t>
            </a:r>
          </a:p>
          <a:p>
            <a:pPr>
              <a:defRPr sz="950" b="1">
                <a:solidFill>
                  <a:srgbClr val="1A5FB4"/>
                </a:solidFill>
                <a:latin typeface="Arial"/>
              </a:defRPr>
            </a:pPr>
            <a:r>
              <a:t>MATHEMATICAL BREAKDOWN OF STATE-OF-THE-ART SOTA (MICCAI '23)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85039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500"/>
              </a:spcBef>
              <a:defRPr sz="1200" b="1">
                <a:solidFill>
                  <a:srgbClr val="C0392B"/>
                </a:solidFill>
                <a:latin typeface="Arial"/>
              </a:defRPr>
            </a:pPr>
            <a:r>
              <a:t>Failure Mode 1 — Positive-Pair Starvation in Contrastive Learning (IntraSCL):</a:t>
            </a:r>
          </a:p>
          <a:p>
            <a:pPr>
              <a:spcBef>
                <a:spcPts val="2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• FedIIC optimizes intra-client supervised contrastive loss: L_IntraSCL = - Sum (1 / |P(i)|) * Sum log [exp(z_i . z_p / tau) / Sum exp(z_i . z_a / tau)].</a:t>
            </a:r>
          </a:p>
          <a:p>
            <a:pPr>
              <a:spcBef>
                <a:spcPts val="2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• Contrastive learning mathematically requires &gt;= 2 samples of the SAME class in a local batch to form a positive pair (|P(i)| &gt;= 1).</a:t>
            </a:r>
          </a:p>
          <a:p>
            <a:pPr>
              <a:spcBef>
                <a:spcPts val="2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• In rare diseases like IPF (prevalence &lt; 8%, Dirichlet alpha=0.2), hospitals have 0 or only 1 patient scan.</a:t>
            </a:r>
          </a:p>
          <a:p>
            <a:pPr>
              <a:spcBef>
                <a:spcPts val="200"/>
              </a:spcBef>
              <a:defRPr sz="1050" b="1">
                <a:solidFill>
                  <a:srgbClr val="282C34"/>
                </a:solidFill>
                <a:latin typeface="Arial"/>
              </a:defRPr>
            </a:pPr>
            <a:r>
              <a:t>• When count &lt;= 1, |P(i)| = 0: No positive pairs can be formed! FedIIC's contrastive mechanism collapses to 0 for the rare class.</a:t>
            </a:r>
          </a:p>
          <a:p>
            <a:pPr>
              <a:spcBef>
                <a:spcPts val="500"/>
              </a:spcBef>
              <a:defRPr sz="1200" b="1">
                <a:solidFill>
                  <a:srgbClr val="1A5FB4"/>
                </a:solidFill>
                <a:latin typeface="Arial"/>
              </a:defRPr>
            </a:pPr>
            <a:r>
              <a:t>Failure Mode 2 — Dynamic Logit Adjustment (DALA) Margin Breakdown:</a:t>
            </a:r>
          </a:p>
          <a:p>
            <a:pPr>
              <a:spcBef>
                <a:spcPts val="2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• FedIIC adjusts classification logits using local class priors: m_c = tau * log(pi_c / L_c^d + epsilon).</a:t>
            </a:r>
          </a:p>
          <a:p>
            <a:pPr>
              <a:spcBef>
                <a:spcPts val="2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• For community hospitals with 0 IPF patients, pi_IPF = 0, causing log(0) -&gt; -inf.</a:t>
            </a:r>
          </a:p>
          <a:p>
            <a:pPr>
              <a:spcBef>
                <a:spcPts val="2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• This heavily penalizes the rare class, forcing the hospital model to actively suppress IPF predictions and corrupting the global consensus during federated averaging.</a:t>
            </a:r>
          </a:p>
          <a:p>
            <a:pPr>
              <a:spcBef>
                <a:spcPts val="500"/>
              </a:spcBef>
              <a:defRPr sz="1200" b="1">
                <a:solidFill>
                  <a:srgbClr val="0A2540"/>
                </a:solidFill>
                <a:latin typeface="Arial"/>
              </a:defRPr>
            </a:pPr>
            <a:r>
              <a:t>Why Federated Latent Replay is the Optimal Solution:</a:t>
            </a:r>
          </a:p>
          <a:p>
            <a:pPr>
              <a:spcBef>
                <a:spcPts val="200"/>
              </a:spcBef>
              <a:defRPr sz="1050" b="0">
                <a:solidFill>
                  <a:srgbClr val="282C34"/>
                </a:solidFill>
                <a:latin typeface="Arial"/>
              </a:defRPr>
            </a:pPr>
            <a:r>
              <a:t>• Generates synthetic latent features f_hat ~ p(f | y=IPF) locally inside data-starved hospitals.</a:t>
            </a:r>
          </a:p>
          <a:p>
            <a:pPr>
              <a:spcBef>
                <a:spcPts val="200"/>
              </a:spcBef>
              <a:defRPr sz="1050" b="1">
                <a:solidFill>
                  <a:srgbClr val="282C34"/>
                </a:solidFill>
                <a:latin typeface="Arial"/>
              </a:defRPr>
            </a:pPr>
            <a:r>
              <a:t>• Supplies artificial positive pairs to prevent contrastive collapse, without transferring any raw patient scans.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54864"/>
            <a:ext cx="2313432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"/>
            <a:ext cx="9144000" cy="22860"/>
          </a:xfrm>
          <a:prstGeom prst="rect">
            <a:avLst/>
          </a:prstGeom>
          <a:solidFill>
            <a:srgbClr val="1A5FB4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A2540"/>
                </a:solidFill>
                <a:latin typeface="Arial"/>
              </a:defRPr>
            </a:pPr>
            <a:r>
              <a:t>Detailed Design — Algorithms &amp; Mathematics</a:t>
            </a:r>
          </a:p>
          <a:p>
            <a:pPr>
              <a:defRPr sz="950" b="1">
                <a:solidFill>
                  <a:srgbClr val="1A5FB4"/>
                </a:solidFill>
                <a:latin typeface="Arial"/>
              </a:defRPr>
            </a:pPr>
            <a:r>
              <a:t>PI 3.3.3: FORMAL PSEUDOCODE, INPUT/OUTPUT SPECIFICATIONS &amp; LOSS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04672"/>
            <a:ext cx="4114800" cy="4069080"/>
          </a:xfrm>
          <a:prstGeom prst="roundRect">
            <a:avLst/>
          </a:prstGeom>
          <a:solidFill>
            <a:srgbClr val="F5F7FA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300" b="1">
                <a:solidFill>
                  <a:srgbClr val="0A2540"/>
                </a:solidFill>
                <a:latin typeface="Arial"/>
              </a:defRPr>
            </a:pPr>
            <a:r>
              <a:t>Mathematical Formulations</a:t>
            </a:r>
          </a:p>
          <a:p>
            <a:pPr>
              <a:spcBef>
                <a:spcPts val="25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1. Conditional Latent Feature Generator: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f_hat = G_psi(z, y),  where z ~ N(0, I_64), y in {0, 1, 2}</a:t>
            </a:r>
          </a:p>
          <a:p>
            <a:pPr>
              <a:spcBef>
                <a:spcPts val="25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2. Generator Multi-Task Loss Objective: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L_gen = L_CE(F_theta(f_hat), y) + lambda_fm * L_FM - lambda_div * L_DIV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L_CE: Classification fidelity under global classifier.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L_FM: Feature Matching = MSE(mean(f_hat_c), f_bar_c_real) grounds synthetic features in real clinic representations.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L_DIV: Mode-seeking diversity penalty ||f_hat_1 - f_hat_2||_1 / (||z_1 - z_2||_1 + eps) prevents mode collapse.</a:t>
            </a:r>
          </a:p>
          <a:p>
            <a:pPr>
              <a:spcBef>
                <a:spcPts val="25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3. Generative Replay Classifier Objective: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f_comb = Concat[f_real, f_hat_IPF],  y_comb = Concat[y_real, y_IPF]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L_clf = CrossEntropy(ClassifierHead(f_comb), y_comb)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804672"/>
            <a:ext cx="4114800" cy="4069080"/>
          </a:xfrm>
          <a:prstGeom prst="roundRect">
            <a:avLst/>
          </a:prstGeom>
          <a:solidFill>
            <a:srgbClr val="F5F7FA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300" b="1">
                <a:solidFill>
                  <a:srgbClr val="0A2540"/>
                </a:solidFill>
                <a:latin typeface="Arial"/>
              </a:defRPr>
            </a:pPr>
            <a:r>
              <a:t>Algorithms &amp; I/O Specifications</a:t>
            </a:r>
          </a:p>
          <a:p>
            <a:pPr>
              <a:spcBef>
                <a:spcPts val="25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Algorithm 1: Local Generator Distillation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Inputs: Local dataset D_k, Global classifier F_theta, Generator G_psi, steps T=5, weights lambda_fm, lambda_div.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Output: Updated local generator parameter tensor psi_k.</a:t>
            </a:r>
          </a:p>
          <a:p>
            <a:pPr>
              <a:spcBef>
                <a:spcPts val="25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Algorithm 2: Classifier Training with Replay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Inputs: Local dataset D_k, Generator G_psi, Classifier F_theta, epochs E=2, rare index r=0, batch B=16.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Logic: Checks n_rare in batch; if deficit exists, queries G_psi.sample(r) and appends synthetic embeddings.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Output: Updated local classifier weights theta_k.</a:t>
            </a:r>
          </a:p>
          <a:p>
            <a:pPr>
              <a:spcBef>
                <a:spcPts val="25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Algorithm 3: Global Federated Communication Round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Stage 1: Broadcast (theta, psi) -&gt; Clients train G_psi -&gt; Aggregate psi_glob = Sum (n_k/N) psi_k.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Stage 2: Clients train F_theta via replay -&gt; Aggregate theta_glob = Sum (n_k/N) theta_k -&gt; Global test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54864"/>
            <a:ext cx="2313432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"/>
            <a:ext cx="9144000" cy="22860"/>
          </a:xfrm>
          <a:prstGeom prst="rect">
            <a:avLst/>
          </a:prstGeom>
          <a:solidFill>
            <a:srgbClr val="1A5FB4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A2540"/>
                </a:solidFill>
                <a:latin typeface="Arial"/>
              </a:defRPr>
            </a:pPr>
            <a:r>
              <a:t>Modern Tools &amp; Module Testing Suite</a:t>
            </a:r>
          </a:p>
          <a:p>
            <a:pPr>
              <a:defRPr sz="950" b="1">
                <a:solidFill>
                  <a:srgbClr val="1A5FB4"/>
                </a:solidFill>
                <a:latin typeface="Arial"/>
              </a:defRPr>
            </a:pPr>
            <a:r>
              <a:t>PI 5.2.2: DOMAIN-SPECIFIC TOOLS &amp; 31/31 AUTOMATED TESTS PASSING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04672"/>
            <a:ext cx="4114800" cy="4069080"/>
          </a:xfrm>
          <a:prstGeom prst="roundRect">
            <a:avLst/>
          </a:prstGeom>
          <a:solidFill>
            <a:srgbClr val="F5F7FA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300" b="1">
                <a:solidFill>
                  <a:srgbClr val="0A2540"/>
                </a:solidFill>
                <a:latin typeface="Arial"/>
              </a:defRPr>
            </a:pPr>
            <a:r>
              <a:t>Modern Tools &amp; Platforms (PI 5.2.2)</a:t>
            </a:r>
          </a:p>
          <a:p>
            <a:pPr>
              <a:spcBef>
                <a:spcPts val="25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Deep Learning Framework: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PyTorch 2.14 &amp; Torchvision: Neural tensor computation, autograd engine, ResNet backbone.</a:t>
            </a:r>
          </a:p>
          <a:p>
            <a:pPr>
              <a:spcBef>
                <a:spcPts val="25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Evaluation &amp; Mathematics: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Scikit-learn: BACC, F1-scores, confusion matrices, AUROC.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NumPy &amp; Pandas: Dirichlet sampling and CSV tabular logging.</a:t>
            </a:r>
          </a:p>
          <a:p>
            <a:pPr>
              <a:spcBef>
                <a:spcPts val="25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UML Modeling Tools: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PlantUML &amp; Draw.io: 4 architectural diagrams (.drawio &amp; .puml in docs/uml/).</a:t>
            </a:r>
          </a:p>
          <a:p>
            <a:pPr>
              <a:spcBef>
                <a:spcPts val="25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Technical Report Writing: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LaTeX: Comprehensive 6-chapter technical report (SDP_Review2_Report.tex in docs/report/).</a:t>
            </a:r>
          </a:p>
          <a:p>
            <a:pPr>
              <a:spcBef>
                <a:spcPts val="250"/>
              </a:spcBef>
              <a:defRPr sz="950" b="1">
                <a:solidFill>
                  <a:srgbClr val="C0392B"/>
                </a:solidFill>
                <a:latin typeface="Arial"/>
              </a:defRPr>
            </a:pPr>
            <a:r>
              <a:t>Testing Framework: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pytest 9.1: Automated test suite for module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804672"/>
            <a:ext cx="4114800" cy="4069080"/>
          </a:xfrm>
          <a:prstGeom prst="roundRect">
            <a:avLst/>
          </a:prstGeom>
          <a:solidFill>
            <a:srgbClr val="F5F7FA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300" b="1">
                <a:solidFill>
                  <a:srgbClr val="27AE60"/>
                </a:solidFill>
                <a:latin typeface="Arial"/>
              </a:defRPr>
            </a:pPr>
            <a:r>
              <a:t>Automated Unit Tests (31/31 Passed)</a:t>
            </a:r>
          </a:p>
          <a:p>
            <a:pPr>
              <a:spcBef>
                <a:spcPts val="250"/>
              </a:spcBef>
              <a:defRPr sz="950" b="1">
                <a:solidFill>
                  <a:srgbClr val="282C34"/>
                </a:solidFill>
                <a:latin typeface="Arial"/>
              </a:defRPr>
            </a:pPr>
            <a:r>
              <a:t>Command: pytest tests/test_modules.py -v</a:t>
            </a:r>
          </a:p>
          <a:p>
            <a:pPr>
              <a:spcBef>
                <a:spcPts val="250"/>
              </a:spcBef>
              <a:defRPr sz="950" b="1">
                <a:solidFill>
                  <a:srgbClr val="27AE60"/>
                </a:solidFill>
                <a:latin typeface="Arial"/>
              </a:defRPr>
            </a:pPr>
            <a:r>
              <a:t>Status: 31 passed in 17.35 seconds (100% success)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TestDatasetGeneration (5 tests): Shape, rare prevalence (8%), non-IID partition skew.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TestClassifierModels (7 tests): ConvNet &amp; ResNet feature shapes, projection heads, batch_size=1 inference stability.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TestConditionalGenerator (3 tests): Noise conditioning, sampling, feature diversity.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TestBaselineLosses (4 tests): DALA zero-class stability, contrastive loss edge case when no positive pairs exist.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TestHospitalClient (4 tests): FedAvg, FedIIC, and generative replay local weight updates.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TestFederatedServer (6 tests): All 4 training rounds + weighted FedAvg + global evaluation.</a:t>
            </a:r>
          </a:p>
          <a:p>
            <a:pPr>
              <a:spcBef>
                <a:spcPts val="25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TestMetrics (2 tests): Validation of all clinical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54864"/>
            <a:ext cx="2313432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"/>
            <a:ext cx="9144000" cy="22860"/>
          </a:xfrm>
          <a:prstGeom prst="rect">
            <a:avLst/>
          </a:prstGeom>
          <a:solidFill>
            <a:srgbClr val="1A5FB4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A2540"/>
                </a:solidFill>
                <a:latin typeface="Arial"/>
              </a:defRPr>
            </a:pPr>
            <a:r>
              <a:t>Baseline Paper Results &amp; Scientific Gap Analysis</a:t>
            </a:r>
          </a:p>
          <a:p>
            <a:pPr>
              <a:defRPr sz="950" b="1">
                <a:solidFill>
                  <a:srgbClr val="1A5FB4"/>
                </a:solidFill>
                <a:latin typeface="Arial"/>
              </a:defRPr>
            </a:pPr>
            <a:r>
              <a:t>PUBLISHED SOTA (MICCAI '23) PERFORMANCE &amp; THE '100% SCORE' EXPLANATION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804672"/>
          <a:ext cx="85039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4229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Medical Benchmark Dataset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FedAvg (Vanilla '17)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FedProx (Li '20)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FedIIC (MICCAI '23 SOTA)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Published Error Gap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ISIC 2019 (Multi-Site Dermoscopy)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Balanced Acc (BACC)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53.2%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54.1%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5FB4"/>
                          </a:solidFill>
                          <a:latin typeface="Arial"/>
                        </a:defRPr>
                      </a:pPr>
                      <a:r>
                        <a:t>65.8%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35400"/>
                          </a:solidFill>
                          <a:latin typeface="Arial"/>
                        </a:defRPr>
                      </a:pPr>
                      <a:r>
                        <a:t>34.2% Error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CIFAR-100-LT (Severe Class Skew)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Top-1 Accuracy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5FB4"/>
                          </a:solidFill>
                          <a:latin typeface="Arial"/>
                        </a:defRPr>
                      </a:pPr>
                      <a:r>
                        <a:t>44.9%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35400"/>
                          </a:solidFill>
                          <a:latin typeface="Arial"/>
                        </a:defRPr>
                      </a:pPr>
                      <a:r>
                        <a:t>55.1% Error Gap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COVID-19 Chest X-Ray (Multi-Center)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Macro-F1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68.1%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  <a:latin typeface="Arial"/>
                        </a:defRPr>
                      </a:pPr>
                      <a:r>
                        <a:t>69.4%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5FB4"/>
                          </a:solidFill>
                          <a:latin typeface="Arial"/>
                        </a:defRPr>
                      </a:pPr>
                      <a:r>
                        <a:t>76.2%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35400"/>
                          </a:solidFill>
                          <a:latin typeface="Arial"/>
                        </a:defRPr>
                      </a:pPr>
                      <a:r>
                        <a:t>23.8% Error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0040" y="2606040"/>
            <a:ext cx="4114800" cy="2331720"/>
          </a:xfrm>
          <a:prstGeom prst="roundRect">
            <a:avLst/>
          </a:prstGeom>
          <a:solidFill>
            <a:srgbClr val="FEF9E7"/>
          </a:solidFill>
          <a:ln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defRPr sz="1150" b="1">
                <a:solidFill>
                  <a:srgbClr val="D35400"/>
                </a:solidFill>
                <a:latin typeface="Arial"/>
              </a:defRPr>
            </a:pPr>
            <a:r>
              <a:t>Why the '100% Score' Was an Artifact:</a:t>
            </a:r>
          </a:p>
          <a:p>
            <a:pPr>
              <a:spcBef>
                <a:spcPts val="200"/>
              </a:spcBef>
              <a:defRPr sz="850" b="1">
                <a:solidFill>
                  <a:srgbClr val="0A2540"/>
                </a:solidFill>
                <a:latin typeface="Arial"/>
              </a:defRPr>
            </a:pPr>
            <a:r>
              <a:t>• Artificial Brightness Separation:</a:t>
            </a:r>
          </a:p>
          <a:p>
            <a:pPr>
              <a:spcBef>
                <a:spcPts val="200"/>
              </a:spcBef>
              <a:defRPr sz="850" b="0">
                <a:solidFill>
                  <a:srgbClr val="282C34"/>
                </a:solidFill>
                <a:latin typeface="Arial"/>
              </a:defRPr>
            </a:pPr>
            <a:r>
              <a:t>In earlier toy simulation tests, classes had distinct mean brightness (Normal=0.20, COPD=0.25, IPF=0.35).</a:t>
            </a:r>
          </a:p>
          <a:p>
            <a:pPr>
              <a:spcBef>
                <a:spcPts val="200"/>
              </a:spcBef>
              <a:defRPr sz="850" b="1">
                <a:solidFill>
                  <a:srgbClr val="0A2540"/>
                </a:solidFill>
                <a:latin typeface="Arial"/>
              </a:defRPr>
            </a:pPr>
            <a:r>
              <a:t>• Trivial Linearity Masked Imbalance:</a:t>
            </a:r>
          </a:p>
          <a:p>
            <a:pPr>
              <a:spcBef>
                <a:spcPts val="200"/>
              </a:spcBef>
              <a:defRPr sz="850" b="0">
                <a:solidFill>
                  <a:srgbClr val="282C34"/>
                </a:solidFill>
                <a:latin typeface="Arial"/>
              </a:defRPr>
            </a:pPr>
            <a:r>
              <a:t>Because images were separable by global brightness alone, ALL methods (even FedAvg from 2017) reached 100%, masking class collapse.</a:t>
            </a:r>
          </a:p>
          <a:p>
            <a:pPr>
              <a:spcBef>
                <a:spcPts val="200"/>
              </a:spcBef>
              <a:defRPr sz="850" b="1">
                <a:solidFill>
                  <a:srgbClr val="0A2540"/>
                </a:solidFill>
                <a:latin typeface="Arial"/>
              </a:defRPr>
            </a:pPr>
            <a:r>
              <a:t>• Clinical Reality of High-Resolution CT:</a:t>
            </a:r>
          </a:p>
          <a:p>
            <a:pPr>
              <a:spcBef>
                <a:spcPts val="200"/>
              </a:spcBef>
              <a:defRPr sz="850" b="0">
                <a:solidFill>
                  <a:srgbClr val="282C34"/>
                </a:solidFill>
                <a:latin typeface="Arial"/>
              </a:defRPr>
            </a:pPr>
            <a:r>
              <a:t>True IPF and COPD share identical baseline parenchymal attenuation (μ=0.25, σ=0.04). Diagnosis requires learning subtle subpleural honeycombing textures, not brightness.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2606040"/>
            <a:ext cx="4114800" cy="2331720"/>
          </a:xfrm>
          <a:prstGeom prst="roundRect">
            <a:avLst/>
          </a:prstGeom>
          <a:solidFill>
            <a:srgbClr val="F5F7FA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defRPr sz="1150" b="1">
                <a:solidFill>
                  <a:srgbClr val="0A2540"/>
                </a:solidFill>
                <a:latin typeface="Arial"/>
              </a:defRPr>
            </a:pPr>
            <a:r>
              <a:t>Why FedIIC Leaves a Real Research Gap:</a:t>
            </a:r>
          </a:p>
          <a:p>
            <a:pPr>
              <a:spcBef>
                <a:spcPts val="200"/>
              </a:spcBef>
              <a:defRPr sz="850" b="1">
                <a:solidFill>
                  <a:srgbClr val="C0392B"/>
                </a:solidFill>
                <a:latin typeface="Arial"/>
              </a:defRPr>
            </a:pPr>
            <a:r>
              <a:t>• Published Error Gap (24% to 55%):</a:t>
            </a:r>
          </a:p>
          <a:p>
            <a:pPr>
              <a:spcBef>
                <a:spcPts val="200"/>
              </a:spcBef>
              <a:defRPr sz="850" b="0">
                <a:solidFill>
                  <a:srgbClr val="282C34"/>
                </a:solidFill>
                <a:latin typeface="Arial"/>
              </a:defRPr>
            </a:pPr>
            <a:r>
              <a:t>Official MICCAI '23 results prove FedIIC is NOT 100%. It plateaus at 44.9%–76.2% across peer-reviewed benchmarks.</a:t>
            </a:r>
          </a:p>
          <a:p>
            <a:pPr>
              <a:spcBef>
                <a:spcPts val="200"/>
              </a:spcBef>
              <a:defRPr sz="850" b="1">
                <a:solidFill>
                  <a:srgbClr val="0A2540"/>
                </a:solidFill>
                <a:latin typeface="Arial"/>
              </a:defRPr>
            </a:pPr>
            <a:r>
              <a:t>• Long-Tailed vs. True Rare Disease:</a:t>
            </a:r>
          </a:p>
          <a:p>
            <a:pPr>
              <a:spcBef>
                <a:spcPts val="200"/>
              </a:spcBef>
              <a:defRPr sz="850" b="0">
                <a:solidFill>
                  <a:srgbClr val="282C34"/>
                </a:solidFill>
                <a:latin typeface="Arial"/>
              </a:defRPr>
            </a:pPr>
            <a:r>
              <a:t>FedIIC was designed for common conditions where minority classes still have dozens of samples per center.</a:t>
            </a:r>
          </a:p>
          <a:p>
            <a:pPr>
              <a:spcBef>
                <a:spcPts val="200"/>
              </a:spcBef>
              <a:defRPr sz="850" b="1">
                <a:solidFill>
                  <a:srgbClr val="0A2540"/>
                </a:solidFill>
                <a:latin typeface="Arial"/>
              </a:defRPr>
            </a:pPr>
            <a:r>
              <a:t>• Zero-Patient Collapse in Rare Diseases:</a:t>
            </a:r>
          </a:p>
          <a:p>
            <a:pPr>
              <a:spcBef>
                <a:spcPts val="200"/>
              </a:spcBef>
              <a:defRPr sz="850" b="0">
                <a:solidFill>
                  <a:srgbClr val="282C34"/>
                </a:solidFill>
                <a:latin typeface="Arial"/>
              </a:defRPr>
            </a:pPr>
            <a:r>
              <a:t>In rare diseases (IPF prevalence &lt; 8%), hospital clinics have 0 or 1 scan: IntraSCL contrastive loss has 0 positive pairs (|P(i)|=0), and DALA prior log(0) → -inf.</a:t>
            </a:r>
          </a:p>
          <a:p>
            <a:pPr>
              <a:spcBef>
                <a:spcPts val="200"/>
              </a:spcBef>
              <a:defRPr sz="850" b="1">
                <a:solidFill>
                  <a:srgbClr val="27AE60"/>
                </a:solidFill>
                <a:latin typeface="Arial"/>
              </a:defRPr>
            </a:pPr>
            <a:r>
              <a:t>• Scope for Improvement:</a:t>
            </a:r>
          </a:p>
          <a:p>
            <a:pPr>
              <a:spcBef>
                <a:spcPts val="200"/>
              </a:spcBef>
              <a:defRPr sz="850" b="0">
                <a:solidFill>
                  <a:srgbClr val="27AE60"/>
                </a:solidFill>
                <a:latin typeface="Arial"/>
              </a:defRPr>
            </a:pPr>
            <a:r>
              <a:t>This failure in data-scarce clinics forms our project's direct contribution.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54864"/>
            <a:ext cx="2313432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"/>
            <a:ext cx="9144000" cy="22860"/>
          </a:xfrm>
          <a:prstGeom prst="rect">
            <a:avLst/>
          </a:prstGeom>
          <a:solidFill>
            <a:srgbClr val="1A5FB4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A2540"/>
                </a:solidFill>
                <a:latin typeface="Arial"/>
              </a:defRPr>
            </a:pPr>
            <a:r>
              <a:t>Conclusion &amp; Review 3 Roadmap</a:t>
            </a:r>
          </a:p>
          <a:p>
            <a:pPr>
              <a:defRPr sz="950" b="1">
                <a:solidFill>
                  <a:srgbClr val="1A5FB4"/>
                </a:solidFill>
                <a:latin typeface="Arial"/>
              </a:defRPr>
            </a:pPr>
            <a:r>
              <a:t>DELIVERABLES SUMMARY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04672"/>
            <a:ext cx="4114800" cy="4069080"/>
          </a:xfrm>
          <a:prstGeom prst="roundRect">
            <a:avLst/>
          </a:prstGeom>
          <a:solidFill>
            <a:srgbClr val="F5F7FA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300" b="1">
                <a:solidFill>
                  <a:srgbClr val="27AE60"/>
                </a:solidFill>
                <a:latin typeface="Arial"/>
              </a:defRPr>
            </a:pPr>
            <a:r>
              <a:t>Review 2 Deliverables Checklist</a:t>
            </a:r>
          </a:p>
          <a:p>
            <a:pPr>
              <a:spcBef>
                <a:spcPts val="30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[x] Problem Re-formulation: </a:t>
            </a:r>
            <a:r>
              <a:rPr b="0">
                <a:solidFill>
                  <a:srgbClr val="282C34"/>
                </a:solidFill>
              </a:rPr>
              <a:t>Grounded on single rare disease (IPF, ORPHA:2032) with established baseline.</a:t>
            </a:r>
          </a:p>
          <a:p>
            <a:pPr>
              <a:spcBef>
                <a:spcPts val="30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[x] System Requirements (PI 3.1.3): </a:t>
            </a:r>
            <a:r>
              <a:rPr b="0">
                <a:solidFill>
                  <a:srgbClr val="282C34"/>
                </a:solidFill>
              </a:rPr>
              <a:t>Complete FRs, NFRs, constraints, and assumptions specified.</a:t>
            </a:r>
          </a:p>
          <a:p>
            <a:pPr>
              <a:spcBef>
                <a:spcPts val="30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[x] Architectural Framework (PI 3.3.1): </a:t>
            </a:r>
            <a:r>
              <a:rPr b="0">
                <a:solidFill>
                  <a:srgbClr val="282C34"/>
                </a:solidFill>
              </a:rPr>
              <a:t>Visual pictorial architecture model, 3 design patterns, 4 UML diagrams (.drawio &amp; .puml).</a:t>
            </a:r>
          </a:p>
          <a:p>
            <a:pPr>
              <a:spcBef>
                <a:spcPts val="30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[x] Detailed Design (PI 3.3.3): </a:t>
            </a:r>
            <a:r>
              <a:rPr b="0">
                <a:solidFill>
                  <a:srgbClr val="282C34"/>
                </a:solidFill>
              </a:rPr>
              <a:t>Mathematical loss formulations, 3 formal algorithms with I/O.</a:t>
            </a:r>
          </a:p>
          <a:p>
            <a:pPr>
              <a:spcBef>
                <a:spcPts val="30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[x] Module Testing (PI 5.2.2): </a:t>
            </a:r>
            <a:r>
              <a:rPr b="0">
                <a:solidFill>
                  <a:srgbClr val="282C34"/>
                </a:solidFill>
              </a:rPr>
              <a:t>31/31 unit tests passing via pytest framework.</a:t>
            </a:r>
          </a:p>
          <a:p>
            <a:pPr>
              <a:spcBef>
                <a:spcPts val="300"/>
              </a:spcBef>
              <a:defRPr sz="950" b="1">
                <a:solidFill>
                  <a:srgbClr val="0A2540"/>
                </a:solidFill>
                <a:latin typeface="Arial"/>
              </a:defRPr>
            </a:pPr>
            <a:r>
              <a:t>[x] LaTeX Technical Report (PI 9.1.2): </a:t>
            </a:r>
            <a:r>
              <a:rPr b="0">
                <a:solidFill>
                  <a:srgbClr val="282C34"/>
                </a:solidFill>
              </a:rPr>
              <a:t>Full 6-chapter formal report compiled with all figures &amp;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804672"/>
            <a:ext cx="4114800" cy="4069080"/>
          </a:xfrm>
          <a:prstGeom prst="roundRect">
            <a:avLst/>
          </a:prstGeom>
          <a:solidFill>
            <a:srgbClr val="F5F7FA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300" b="1">
                <a:solidFill>
                  <a:srgbClr val="0A2540"/>
                </a:solidFill>
                <a:latin typeface="Arial"/>
              </a:defRPr>
            </a:pPr>
            <a:r>
              <a:t>Review 3 Roadmap &amp; Future Work</a:t>
            </a:r>
          </a:p>
          <a:p>
            <a:pPr>
              <a:spcBef>
                <a:spcPts val="30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1. Real Clinical CT Integration:</a:t>
            </a:r>
          </a:p>
          <a:p>
            <a:pPr>
              <a:spcBef>
                <a:spcPts val="30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Integrate actual multi-center DICOM HRCT scans from the OSIC Pulmonary Fibrosis Progression Challenge dataset.</a:t>
            </a:r>
          </a:p>
          <a:p>
            <a:pPr>
              <a:spcBef>
                <a:spcPts val="30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2. Differential Privacy Guarantees:</a:t>
            </a:r>
          </a:p>
          <a:p>
            <a:pPr>
              <a:spcBef>
                <a:spcPts val="30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Integrate DP-SGD (Differentially Private Stochastic Gradient Descent) with Rényi Differential Privacy (RDP) accounting on generator parameter deltas.</a:t>
            </a:r>
          </a:p>
          <a:p>
            <a:pPr>
              <a:spcBef>
                <a:spcPts val="300"/>
              </a:spcBef>
              <a:defRPr sz="950" b="1">
                <a:solidFill>
                  <a:srgbClr val="1A5FB4"/>
                </a:solidFill>
                <a:latin typeface="Arial"/>
              </a:defRPr>
            </a:pPr>
            <a:r>
              <a:t>3. Asynchronous Consortium Scaling:</a:t>
            </a:r>
          </a:p>
          <a:p>
            <a:pPr>
              <a:spcBef>
                <a:spcPts val="30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Scale from 5 to 15+ simulated hospital nodes with asynchronous round aggregation to handle hospital stragglers.</a:t>
            </a:r>
          </a:p>
          <a:p>
            <a:pPr>
              <a:spcBef>
                <a:spcPts val="300"/>
              </a:spcBef>
              <a:defRPr sz="950" b="1">
                <a:solidFill>
                  <a:srgbClr val="C0392B"/>
                </a:solidFill>
                <a:latin typeface="Arial"/>
              </a:defRPr>
            </a:pPr>
            <a:r>
              <a:t>4. Clinical Research Paper Submission:</a:t>
            </a:r>
          </a:p>
          <a:p>
            <a:pPr>
              <a:spcBef>
                <a:spcPts val="300"/>
              </a:spcBef>
              <a:defRPr sz="950" b="0">
                <a:solidFill>
                  <a:srgbClr val="282C34"/>
                </a:solidFill>
                <a:latin typeface="Arial"/>
              </a:defRPr>
            </a:pPr>
            <a:r>
              <a:t>• Finalize manuscript targeting top-tier medical computing venues (IEEE JBHI / MICCAI).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54864"/>
            <a:ext cx="2313432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"/>
            <a:ext cx="9144000" cy="22860"/>
          </a:xfrm>
          <a:prstGeom prst="rect">
            <a:avLst/>
          </a:prstGeom>
          <a:solidFill>
            <a:srgbClr val="1A5FB4"/>
          </a:solidFill>
          <a:ln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A2540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2540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1A5FB4"/>
                </a:solidFill>
                <a:latin typeface="Arial"/>
              </a:defRPr>
            </a:pPr>
            <a:r>
              <a:t>Questions &amp; Discussion</a:t>
            </a:r>
          </a:p>
          <a:p>
            <a:pPr algn="ctr">
              <a:spcBef>
                <a:spcPts val="1500"/>
              </a:spcBef>
              <a:defRPr sz="1300" b="1">
                <a:solidFill>
                  <a:srgbClr val="282C34"/>
                </a:solidFill>
                <a:latin typeface="Arial"/>
              </a:defRPr>
            </a:pPr>
            <a:r>
              <a:t>Project: Privacy-Preserving Federated Generative Replay for Rare Disease Diagnosis (IPF)</a:t>
            </a:r>
          </a:p>
          <a:p>
            <a:pPr algn="ctr">
              <a:spcBef>
                <a:spcPts val="600"/>
              </a:spcBef>
              <a:defRPr sz="1200">
                <a:solidFill>
                  <a:srgbClr val="282C34"/>
                </a:solidFill>
                <a:latin typeface="Arial"/>
              </a:defRPr>
            </a:pPr>
            <a:r>
              <a:t>Guide: Prof. Mallikarjun Akki  |  Team 48: Ishwari J, Rakshita J, Amrutavarshini B, Aditya C</a:t>
            </a:r>
          </a:p>
          <a:p>
            <a:pPr algn="ctr">
              <a:spcBef>
                <a:spcPts val="400"/>
              </a:spcBef>
              <a:defRPr sz="1100">
                <a:solidFill>
                  <a:srgbClr val="646973"/>
                </a:solidFill>
                <a:latin typeface="Arial"/>
              </a:defRPr>
            </a:pPr>
            <a:r>
              <a:t>Department of Computer Science and Engineering, KLE Technological University</a:t>
            </a:r>
          </a:p>
          <a:p>
            <a:pPr algn="ctr">
              <a:spcBef>
                <a:spcPts val="1200"/>
              </a:spcBef>
              <a:defRPr sz="1100" b="1">
                <a:solidFill>
                  <a:srgbClr val="1A5FB4"/>
                </a:solidFill>
                <a:latin typeface="Arial"/>
              </a:defRPr>
            </a:pPr>
            <a:r>
              <a:t>GitHub: https://github.com/Aditya-c-hu/FedGen-Rare-for-Idiopathic-Pulmonary-Fibrosis.git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  <Words>11173</Words>
  <Paragraphs>258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2026-09-07T07:17:53Z</dcterms:created>
  <dc:creator>LENOVO</dc:creator>
  <dc:description/>
  <dc:language>en-GB</dc:language>
  <cp:lastModifiedBy/>
  <dcterms:modified xsi:type="dcterms:W3CDTF">2026-10-14T11:58:38Z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F67514CA0F094CE39DABDBFFF59B275D_13</vt:lpwstr>
  </property>
  <property fmtid="{D5CDD505-2E9C-101B-9397-08002B2CF9AE}" pid="3" name="KSOProductBuildVer">
    <vt:lpwstr>1033-12.1.0.28485</vt:lpwstr>
  </property>
  <property fmtid="{D5CDD505-2E9C-101B-9397-08002B2CF9AE}" pid="4" name="Notes">
    <vt:i4>16</vt:i4>
  </property>
  <property fmtid="{D5CDD505-2E9C-101B-9397-08002B2CF9AE}" pid="5" name="PresentationFormat">
    <vt:lpwstr>On-screen Show (16:9)</vt:lpwstr>
  </property>
  <property fmtid="{D5CDD505-2E9C-101B-9397-08002B2CF9AE}" pid="6" name="Slides">
    <vt:i4>17</vt:i4>
  </property>
</Properties>
</file>