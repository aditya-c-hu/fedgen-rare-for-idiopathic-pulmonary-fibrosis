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6960" cy="4089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6;p9"/>
          <p:cNvSpPr/>
          <p:nvPr/>
        </p:nvSpPr>
        <p:spPr>
          <a:xfrm>
            <a:off x="4572000" y="0"/>
            <a:ext cx="4571280" cy="51429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600" cy="1481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160" cy="3694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850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7960" cy="6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250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 hasCustomPrompt="1"/>
          </p:nvPr>
        </p:nvSpPr>
        <p:spPr>
          <a:xfrm>
            <a:off x="311760" y="1106280"/>
            <a:ext cx="8519760" cy="196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en-GB" sz="1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19760" cy="1299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47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19760" cy="84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175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175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175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175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240" cy="3415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175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280" cy="75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9999"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28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1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0492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30492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30492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3" indent="-30492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4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5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200400" lvl="6" indent="-30492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55000" lnSpcReduction="19999"/>
          </a:bodyPr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3595680" y="1779120"/>
            <a:ext cx="205776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Team - 48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Google Shape;55;p13"/>
          <p:cNvPicPr/>
          <p:nvPr/>
        </p:nvPicPr>
        <p:blipFill>
          <a:blip r:embed="rId1"/>
          <a:stretch/>
        </p:blipFill>
        <p:spPr>
          <a:xfrm>
            <a:off x="6752520" y="58320"/>
            <a:ext cx="2315160" cy="5497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5" name="Google Shape;56;p13"/>
          <p:cNvCxnSpPr/>
          <p:nvPr/>
        </p:nvCxnSpPr>
        <p:spPr>
          <a:xfrm>
            <a:off x="-20880" y="673920"/>
            <a:ext cx="9159840" cy="356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graphicFrame>
        <p:nvGraphicFramePr>
          <p:cNvPr id="36" name="Google Shape;57;p13"/>
          <p:cNvGraphicFramePr/>
          <p:nvPr/>
        </p:nvGraphicFramePr>
        <p:xfrm>
          <a:off x="1005480" y="2346480"/>
          <a:ext cx="7237800" cy="1980000"/>
        </p:xfrm>
        <a:graphic>
          <a:graphicData uri="http://schemas.openxmlformats.org/drawingml/2006/table">
            <a:tbl>
              <a:tblPr/>
              <a:tblGrid>
                <a:gridCol w="2412720"/>
                <a:gridCol w="2412720"/>
                <a:gridCol w="2412720"/>
              </a:tblGrid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NAME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ROLL NO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USN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Ishwari J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117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01FE23BCS093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Rakshita J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01FE23BCS082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Amrutavarshini B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219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01FE23BCI024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Aditya C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217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tIns="91080" r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Arial"/>
                        </a:rPr>
                        <a:t>01FE23BCI043</a:t>
                      </a:r>
                      <a:endParaRPr lang="en-GB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91080" marB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TextBox 1"/>
          <p:cNvSpPr/>
          <p:nvPr/>
        </p:nvSpPr>
        <p:spPr>
          <a:xfrm>
            <a:off x="152280" y="1401840"/>
            <a:ext cx="89445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Title : Privacy-Preserving Federated Generative Replay for Rare Disease Diagnosis: A Multi-Center Study on Idiopathic Pulmonary Fibrosis (IPF)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Box 2"/>
          <p:cNvSpPr/>
          <p:nvPr/>
        </p:nvSpPr>
        <p:spPr>
          <a:xfrm>
            <a:off x="5645520" y="4497840"/>
            <a:ext cx="27871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just"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Arial"/>
              </a:rPr>
              <a:t>Guide : Mallikarjun Akki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4"/>
          <p:cNvSpPr/>
          <p:nvPr/>
        </p:nvSpPr>
        <p:spPr>
          <a:xfrm>
            <a:off x="2328480" y="831240"/>
            <a:ext cx="459216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just">
              <a:lnSpc>
                <a:spcPct val="100000"/>
              </a:lnSpc>
            </a:pPr>
            <a:r>
              <a:rPr lang="en-GB" sz="140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Senior Design Project (SDP) – Review 2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2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Review 1 Feedback &amp; Problem Formulation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ADDRESSING REVIEWER CRITIQUE &amp; RESEARCH JUSTIFICATION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Rounded Rectangle 4"/>
          <p:cNvSpPr/>
          <p:nvPr/>
        </p:nvSpPr>
        <p:spPr>
          <a:xfrm>
            <a:off x="32004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1. Reviewer Feedback &amp; Critique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1" u="none" strike="noStrike">
                <a:solidFill>
                  <a:srgbClr val="C0392B"/>
                </a:solidFill>
                <a:effectLst/>
                <a:uFillTx/>
                <a:latin typeface="Arial"/>
              </a:rPr>
              <a:t>The Critique: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"Federated learning cannot be done for multiple rare diseases simultaneously. You must focus on a single rare disease — either a unique one or an existing baseline having clear scope for improvement."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Why Reviewer Was Scientifically Correct: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Cross-Modality Incompatibility: Different rare conditions require incompatible scans (Retinal Fundus vs Brain MRI vs Chest HRCT).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Gradient Orthogonality: Hospitals specializing in different pathologies produce conflicting gradients that cause severe client drift and feature collapse.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Real Clinical Practice: Medical federations (e.g., OSIC, BraTS) always organize around a single targeted disease entity.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Rounded Rectangle 5"/>
          <p:cNvSpPr/>
          <p:nvPr/>
        </p:nvSpPr>
        <p:spPr>
          <a:xfrm>
            <a:off x="470916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2. Selected Focus &amp; Scope for Improvement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Selected Rare Pathology: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Idiopathic Pulmonary Fibrosis (IPF, ORPHA:2032) — an ultra-rare, fatal interstitial lung disease with 2–3 yr median survival.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Identified State-of-the-Art Baseline: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FedIIC (MICCAI '23 Early Accept) — published framework for class-imbalanced medical image classification.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1" u="none" strike="noStrike">
                <a:solidFill>
                  <a:srgbClr val="C0392B"/>
                </a:solidFill>
                <a:effectLst/>
                <a:uFillTx/>
                <a:latin typeface="Arial"/>
              </a:rPr>
              <a:t>Clear Scope for Improvement: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FedIIC relies on contrastive pairs (IntraSCL) requiring ≥ 2 samples per class in local hospital batches.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In true rare diseases, hospitals have 0 or 1 patient scan → FedIIC mathematically collapses.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1050" b="0" u="none" strike="noStrike">
                <a:solidFill>
                  <a:srgbClr val="27AE60"/>
                </a:solidFill>
                <a:effectLst/>
                <a:uFillTx/>
                <a:latin typeface="Arial"/>
              </a:rPr>
              <a:t>• FedGen-Rare introduces generative latent replay to restore balanced learning even for zero-patient clinics.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Target Pathology — Idiopathic Pulmonary Fibrosis (IPF)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CLINICAL PROFILE, DIAGNOSTIC DILEMMA &amp; FEDERATED CHALLENGE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Box 4"/>
          <p:cNvSpPr/>
          <p:nvPr/>
        </p:nvSpPr>
        <p:spPr>
          <a:xfrm>
            <a:off x="320040" y="804600"/>
            <a:ext cx="8503560" cy="40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GB" sz="12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Clinical Severity &amp; Epidemiological Rarity (ORPHA:2032):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IPF is an irreversible, chronic, fibrosing interstitial pneumonia of unknown cause, primarily occurring in older adults.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Median survival following diagnosis is merely 2 to 3 years — worse prognosis than most common malignancies.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Rarity: Prevalence is estimated at ~10 to 60 cases per 100,000 (~0.05%), representing &lt; 8% of thoracic scans in general pulmonary clinics.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GB" sz="12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The Diagnostic Dilemma on High-Resolution CT (HRCT):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Visual Mimicry: Early IPF shares identical non-specific ground-glass opacities (GGO) with common COPD and Non-IPF ILD.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Diagnostic Hallmark: UIP pattern (subpleural, basal-predominant reticular honeycombing and traction bronchiectasis).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Community Hospital Bottleneck: General radiologists in district centers see &lt; 3 cases annually, leading to misdiagnosis.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en-GB" sz="1250" b="1" u="none" strike="noStrike">
                <a:solidFill>
                  <a:srgbClr val="C0392B"/>
                </a:solidFill>
                <a:effectLst/>
                <a:uFillTx/>
                <a:latin typeface="Arial"/>
              </a:rPr>
              <a:t>Why Federated Learning is Mandatory (The Privacy-Scarcity Paradox):</a:t>
            </a:r>
            <a:endParaRPr lang="en-GB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Privacy Mandates: HIPAA and GDPR strictly prohibit centralizing high-resolution patient DICOM CT scans across health systems.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Scarcity Dilemma: Individual hospital silos lack sufficient rare cases to train deep networks independently.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100" b="1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Solution: Collaborative federated learning where hospitals train jointly without moving private CT scans.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System Requirements Specification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PI 3.1.3: FUNCTIONAL, NON-FUNCTIONAL REQUIREMENTS &amp; CONSTRAINTS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4"/>
          <p:cNvSpPr/>
          <p:nvPr/>
        </p:nvSpPr>
        <p:spPr>
          <a:xfrm>
            <a:off x="32004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Functional Requirements (FRs)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• FR1: Non-IID Multi-Center Partitioning: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Simulate realistic hospital scarcity using Dirichlet skew (alpha=0.2) across 5 hospital nodes.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• FR2: Local Diagnostic Training: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Train diagnostic backbones locally with standard CE, FedProx, FedIIC, and Generative Replay.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• FR3: Federated Generator Distillation: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Train conditional feature generator G_psi using knowledge distilled from global classifier.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• FR4: Dynamic Generative Replay: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Synthesize rare IPF latent features locally when clinic batch contains &lt; target quota.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• FR5: Federated Server Aggregation: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Aggregate classifier weights theta and generator weights psi via weighted FedAvg.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• FR6: Comprehensive Benchmarking: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Evaluate across 7 clinical metrics: BACC, IPF Recall, IPF F1, Macro-F1, Precision, Acc, AUROC.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Rounded Rectangle 5"/>
          <p:cNvSpPr/>
          <p:nvPr/>
        </p:nvSpPr>
        <p:spPr>
          <a:xfrm>
            <a:off x="470916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Non-Functional Requirements &amp; Constraints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NFR1: Privacy (Zero Raw Data Leakage):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Raw patient HRCT scans NEVER leave hospital edge nodes. Only model parameter deltas and 128-dim latent vectors are exchanged.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NFR2: Portability &amp; Hardware Independence: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Executable across Linux / Windows / macOS, CPU and CUDA GPU nodes without code modification.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NFR3: Scalability: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Seamlessly supports 3 to 20 hospital consortium nodes.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NFR4: Reproducibility: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Deterministic benchmarking seeded via global seed=42.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System Constraints::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All participant hospitals acquire 64x64 standardized thoracic axial slices. Synchronous round coordination.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Explicit Assumptions:: </a:t>
            </a: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Hospital nodes maintain active network connectivity during communication rounds; honest-but-curious aggregator.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System Architecture — FedGen-Rare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PI 3.3.1: PICTORIAL ARCHITECTURAL MODEL &amp; TWO-STAGE FEDERATED PIPELINE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4" descr="system_architecture_diagram.png"/>
          <p:cNvPicPr/>
          <p:nvPr/>
        </p:nvPicPr>
        <p:blipFill>
          <a:blip r:embed="rId2"/>
          <a:stretch/>
        </p:blipFill>
        <p:spPr>
          <a:xfrm>
            <a:off x="365760" y="777240"/>
            <a:ext cx="8412120" cy="4205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Baseline Analysis — Why FedIIC Fails on Rare Diseases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MATHEMATICAL BREAKDOWN OF STATE-OF-THE-ART SOTA (MICCAI '23) LIMITATIONS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320040" y="804600"/>
            <a:ext cx="8503560" cy="406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499"/>
              </a:spcBef>
            </a:pPr>
            <a:r>
              <a:rPr lang="en-GB" sz="1200" b="1" u="none" strike="noStrike">
                <a:solidFill>
                  <a:srgbClr val="C0392B"/>
                </a:solidFill>
                <a:effectLst/>
                <a:uFillTx/>
                <a:latin typeface="Arial"/>
              </a:rPr>
              <a:t>Failure Mode 1 — Positive-Pair Starvation in Contrastive Learning (IntraSCL):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FedIIC optimizes intra-client supervised contrastive loss: L_IntraSCL = - Sum (1 / |P(i)|) * Sum log [exp(z_i . z_p / tau) / Sum exp(z_i . z_a / tau)].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Contrastive learning mathematically requires &gt;= 2 samples of the SAME class in a local batch to form a positive pair (|P(i)| &gt;= 1).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In rare diseases like IPF (prevalence &lt; 8%, Dirichlet alpha=0.2), hospitals have 0 or only 1 patient scan.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1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When count &lt;= 1, |P(i)| = 0: No positive pairs can be formed! FedIIC's contrastive mechanism collapses to 0 for the rare class.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99"/>
              </a:spcBef>
            </a:pPr>
            <a:r>
              <a:rPr lang="en-GB" sz="120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Failure Mode 2 — Dynamic Logit Adjustment (DALA) Margin Breakdown: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FedIIC adjusts classification logits using local class priors: m_c = tau * log(pi_c / L_c^d + epsilon).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For community hospitals with 0 IPF patients, pi_IPF = 0, causing log(0) -&gt; -inf.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This heavily penalizes the rare class, forcing the hospital model to actively suppress IPF predictions and corrupting the global consensus during federated averaging.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99"/>
              </a:spcBef>
            </a:pPr>
            <a:r>
              <a:rPr lang="en-GB" sz="12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Why Federated Latent Replay is the Optimal Solution: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Generates synthetic latent features f_hat ~ p(f | y=IPF) locally inside data-starved hospitals.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1050" b="1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Supplies artificial positive pairs to prevent contrastive collapse, without transferring any raw patient scans.</a:t>
            </a:r>
            <a:endParaRPr lang="en-GB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Detailed Design — Algorithms &amp; Mathematics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PI 3.3.3: FORMAL PSEUDOCODE, INPUT/OUTPUT SPECIFICATIONS &amp; LOSS FUNCTIONS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4"/>
          <p:cNvSpPr/>
          <p:nvPr/>
        </p:nvSpPr>
        <p:spPr>
          <a:xfrm>
            <a:off x="32004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Mathematical Formulations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1. Conditional Latent Feature Generator: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f_hat = G_psi(z, y),  where z ~ N(0, I_64), y in {0, 1, 2}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2. Generator Multi-Task Loss Objective: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L_gen = L_CE(F_theta(f_hat), y) + lambda_fm * L_FM - lambda_div * L_DIV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L_CE: Classification fidelity under global classifier.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L_FM: Feature Matching = MSE(mean(f_hat_c), f_bar_c_real) grounds synthetic features in real clinic representations.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L_DIV: Mode-seeking diversity penalty ||f_hat_1 - f_hat_2||_1 / (||z_1 - z_2||_1 + eps) prevents mode collapse.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3. Generative Replay Classifier Objective: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f_comb = Concat[f_real, f_hat_IPF],  y_comb = Concat[y_real, y_IPF]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L_clf = CrossEntropy(ClassifierHead(f_comb), y_comb)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ounded Rectangle 5"/>
          <p:cNvSpPr/>
          <p:nvPr/>
        </p:nvSpPr>
        <p:spPr>
          <a:xfrm>
            <a:off x="470916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Algorithms &amp; I/O Specifications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Algorithm 1: Local Generator Distillation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Inputs: Local dataset D_k, Global classifier F_theta, Generator G_psi, steps T=5, weights lambda_fm, lambda_div.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Output: Updated local generator parameter tensor psi_k.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Algorithm 2: Classifier Training with Replay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Inputs: Local dataset D_k, Generator G_psi, Classifier F_theta, epochs E=2, rare index r=0, batch B=16.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Logic: Checks n_rare in batch; if deficit exists, queries G_psi.sample(r) and appends synthetic embeddings.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Output: Updated local classifier weights theta_k.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Algorithm 3: Global Federated Communication Round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Stage 1: Broadcast (theta, psi) -&gt; Clients train G_psi -&gt; Aggregate psi_glob = Sum (n_k/N) psi_k.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Stage 2: Clients train F_theta via replay -&gt; Aggregate theta_glob = Sum (n_k/N) theta_k -&gt; Global test evaluation.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Modern Tools &amp; Module Testing Suite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PI 5.2.2: DOMAIN-SPECIFIC TOOLS &amp; 31/31 AUTOMATED TESTS PASSING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4"/>
          <p:cNvSpPr/>
          <p:nvPr/>
        </p:nvSpPr>
        <p:spPr>
          <a:xfrm>
            <a:off x="32004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Modern Tools &amp; Platforms (PI 5.2.2)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Deep Learning Framework: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PyTorch 2.14 &amp; Torchvision: Neural tensor computation, autograd engine, ResNet backbone.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Evaluation &amp; Mathematics: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Scikit-learn: BACC, F1-scores, confusion matrices, AUROC.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NumPy &amp; Pandas: Dirichlet sampling and CSV tabular logging.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UML Modeling Tools: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PlantUML &amp; Draw.io: 4 architectural diagrams (.drawio &amp; .puml in docs/uml/).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Technical Report Writing: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LaTeX: Comprehensive 6-chapter technical report (SDP_Review2_Report.tex in docs/report/).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C0392B"/>
                </a:solidFill>
                <a:effectLst/>
                <a:uFillTx/>
                <a:latin typeface="Arial"/>
              </a:rPr>
              <a:t>Testing Framework: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pytest 9.1: Automated test suite for module verification.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5"/>
          <p:cNvSpPr/>
          <p:nvPr/>
        </p:nvSpPr>
        <p:spPr>
          <a:xfrm>
            <a:off x="4709160" y="804600"/>
            <a:ext cx="4114440" cy="406872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4520" tIns="164520" rIns="164520" bIns="1645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300" b="1" u="none" strike="noStrike">
                <a:solidFill>
                  <a:srgbClr val="27AE60"/>
                </a:solidFill>
                <a:effectLst/>
                <a:uFillTx/>
                <a:latin typeface="Arial"/>
              </a:rPr>
              <a:t>Automated Unit Tests 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Command: pytest tests/test_modules.py -v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1" u="none" strike="noStrike">
                <a:solidFill>
                  <a:srgbClr val="27AE60"/>
                </a:solidFill>
                <a:effectLst/>
                <a:uFillTx/>
                <a:latin typeface="Arial"/>
              </a:rPr>
              <a:t>Status: 31 passed in 17.35 seconds (100% success)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TestDatasetGeneration (5 tests): Shape, rare prevalence (8%), non-IID partition skew.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TestClassifierModels (7 tests): ConvNet &amp; ResNet feature shapes, projection heads, batch_size=1 inference stability.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TestConditionalGenerator (3 tests): Noise conditioning, sampling, feature diversity.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TestBaselineLosses (4 tests): DALA zero-class stability, contrastive loss edge case when no positive pairs exist.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TestHospitalClient (4 tests): FedAvg, FedIIC, and generative replay local weight updates.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TestFederatedServer (6 tests): All 4 training rounds + weighted FedAvg + global evaluation.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49"/>
              </a:spcBef>
            </a:pPr>
            <a:r>
              <a:rPr lang="en-GB" sz="9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• TestMetrics (2 tests): Validation of all clinical metrics.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Baseline Paper Results &amp; Scientific Gap Analysis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95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PUBLISHED SOTA (MICCAI '23) PERFORMANCE &amp; THE '100% SCORE' EXPLANATION</a:t>
            </a:r>
            <a:endParaRPr lang="en-GB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Table 4"/>
          <p:cNvGraphicFramePr/>
          <p:nvPr/>
        </p:nvGraphicFramePr>
        <p:xfrm>
          <a:off x="320040" y="804600"/>
          <a:ext cx="8503560" cy="1691280"/>
        </p:xfrm>
        <a:graphic>
          <a:graphicData uri="http://schemas.openxmlformats.org/drawingml/2006/table">
            <a:tbl>
              <a:tblPr/>
              <a:tblGrid>
                <a:gridCol w="1417320"/>
                <a:gridCol w="1417320"/>
                <a:gridCol w="1417320"/>
                <a:gridCol w="1417320"/>
                <a:gridCol w="1417320"/>
                <a:gridCol w="1417320"/>
              </a:tblGrid>
              <a:tr h="42264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Medical Benchmark Dataset</a:t>
                      </a:r>
                      <a:endParaRPr lang="en-GB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Evaluation Metric</a:t>
                      </a:r>
                      <a:endParaRPr lang="en-GB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FedAvg (Vanilla '17)</a:t>
                      </a:r>
                      <a:endParaRPr lang="en-GB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FedProx (Li '20)</a:t>
                      </a:r>
                      <a:endParaRPr lang="en-GB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FedIIC (MICCAI '23 SOTA)</a:t>
                      </a:r>
                      <a:endParaRPr lang="en-GB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Published Error Gap</a:t>
                      </a:r>
                      <a:endParaRPr lang="en-GB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A2540"/>
                    </a:solidFill>
                  </a:tcPr>
                </a:tc>
              </a:tr>
              <a:tr h="422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ISIC 2019 (Multi-Site Dermoscopy)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Balanced Acc (BACC)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53.2%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54.1%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1A5FB4"/>
                          </a:solidFill>
                          <a:effectLst/>
                          <a:uFillTx/>
                          <a:latin typeface="Arial"/>
                        </a:rPr>
                        <a:t>65.8%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D35400"/>
                          </a:solidFill>
                          <a:effectLst/>
                          <a:uFillTx/>
                          <a:latin typeface="Arial"/>
                        </a:rPr>
                        <a:t>34.2% Error Gap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CIFAR-100-LT (Severe Class Skew)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Top-1 Accuracy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38.4%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39.1%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1A5FB4"/>
                          </a:solidFill>
                          <a:effectLst/>
                          <a:uFillTx/>
                          <a:latin typeface="Arial"/>
                        </a:rPr>
                        <a:t>44.9%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D35400"/>
                          </a:solidFill>
                          <a:effectLst/>
                          <a:uFillTx/>
                          <a:latin typeface="Arial"/>
                        </a:rPr>
                        <a:t>55.1% Error Gap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422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COVID-19 Chest X-Ray (Multi-Center)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Macro-F1 Score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68.1%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0" u="none" strike="noStrike">
                          <a:solidFill>
                            <a:srgbClr val="282C34"/>
                          </a:solidFill>
                          <a:effectLst/>
                          <a:uFillTx/>
                          <a:latin typeface="Arial"/>
                        </a:rPr>
                        <a:t>69.4%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1A5FB4"/>
                          </a:solidFill>
                          <a:effectLst/>
                          <a:uFillTx/>
                          <a:latin typeface="Arial"/>
                        </a:rPr>
                        <a:t>76.2%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b="1" u="none" strike="noStrike">
                          <a:solidFill>
                            <a:srgbClr val="D35400"/>
                          </a:solidFill>
                          <a:effectLst/>
                          <a:uFillTx/>
                          <a:latin typeface="Arial"/>
                        </a:rPr>
                        <a:t>23.8% Error Gap</a:t>
                      </a:r>
                      <a:endParaRPr lang="en-GB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Rounded Rectangle 5"/>
          <p:cNvSpPr/>
          <p:nvPr/>
        </p:nvSpPr>
        <p:spPr>
          <a:xfrm>
            <a:off x="320040" y="2606040"/>
            <a:ext cx="4114440" cy="2331360"/>
          </a:xfrm>
          <a:prstGeom prst="roundRect">
            <a:avLst>
              <a:gd name="adj" fmla="val 16667"/>
            </a:avLst>
          </a:prstGeom>
          <a:solidFill>
            <a:srgbClr val="FEF9E7"/>
          </a:solidFill>
          <a:ln>
            <a:solidFill>
              <a:srgbClr val="D354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8160" tIns="128160" rIns="128160" bIns="12816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150" b="1" u="none" strike="noStrike">
                <a:solidFill>
                  <a:srgbClr val="D35400"/>
                </a:solidFill>
                <a:effectLst/>
                <a:uFillTx/>
                <a:latin typeface="Arial"/>
              </a:rPr>
              <a:t>Why the '100% Score' Was an Artifact: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Artificial Brightness Separation: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In earlier toy simulation tests, classes had distinct mean brightness (Normal=0.20, COPD=0.25, IPF=0.35).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Trivial Linearity Masked Imbalance: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Because images were separable by global brightness alone, ALL methods (even FedAvg from 2017) reached 100%, masking class collapse.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Clinical Reality of High-Resolution CT: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True IPF and COPD share identical baseline parenchymal attenuation (μ=0.25, σ=0.04). Diagnosis requires learning subtle subpleural honeycombing textures, not brightness.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6"/>
          <p:cNvSpPr/>
          <p:nvPr/>
        </p:nvSpPr>
        <p:spPr>
          <a:xfrm>
            <a:off x="4709160" y="2606040"/>
            <a:ext cx="4114440" cy="2331360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8160" tIns="128160" rIns="128160" bIns="12816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1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Why FedIIC Leaves a Real Research Gap:</a:t>
            </a:r>
            <a:endParaRPr lang="en-GB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1" u="none" strike="noStrike">
                <a:solidFill>
                  <a:srgbClr val="C0392B"/>
                </a:solidFill>
                <a:effectLst/>
                <a:uFillTx/>
                <a:latin typeface="Arial"/>
              </a:rPr>
              <a:t>• Published Error Gap (24% to 55%):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Official MICCAI '23 results prove FedIIC is NOT 100%. It plateaus at 44.9%–76.2% across peer-reviewed benchmarks.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Long-Tailed vs. True Rare Disease: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FedIIC was designed for common conditions where minority classes still have dozens of samples per center.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• Zero-Patient Collapse in Rare Diseases: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In rare diseases (IPF prevalence &lt; 8%), hospital clinics have 0 or 1 scan: IntraSCL contrastive loss has 0 positive pairs (|P(i)|=0), and DALA prior log(0) → -inf.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1" u="none" strike="noStrike">
                <a:solidFill>
                  <a:srgbClr val="27AE60"/>
                </a:solidFill>
                <a:effectLst/>
                <a:uFillTx/>
                <a:latin typeface="Arial"/>
              </a:rPr>
              <a:t>• Scope for Improvement: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en-GB" sz="850" b="0" u="none" strike="noStrike">
                <a:solidFill>
                  <a:srgbClr val="27AE60"/>
                </a:solidFill>
                <a:effectLst/>
                <a:uFillTx/>
                <a:latin typeface="Arial"/>
              </a:rPr>
              <a:t>This failure in data-scarce clinics forms our project's direct contribution.</a:t>
            </a:r>
            <a:endParaRPr lang="en-GB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1" descr="image.png"/>
          <p:cNvPicPr/>
          <p:nvPr/>
        </p:nvPicPr>
        <p:blipFill>
          <a:blip r:embed="rId1"/>
          <a:stretch/>
        </p:blipFill>
        <p:spPr>
          <a:xfrm>
            <a:off x="6748200" y="54720"/>
            <a:ext cx="231300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ectangle 2"/>
          <p:cNvSpPr/>
          <p:nvPr/>
        </p:nvSpPr>
        <p:spPr>
          <a:xfrm>
            <a:off x="0" y="676800"/>
            <a:ext cx="9143640" cy="22680"/>
          </a:xfrm>
          <a:prstGeom prst="rect">
            <a:avLst/>
          </a:prstGeom>
          <a:solidFill>
            <a:srgbClr val="1A5FB4"/>
          </a:solidFill>
          <a:ln>
            <a:solidFill>
              <a:srgbClr val="1A5FB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GB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320040" y="73080"/>
            <a:ext cx="63090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GB" sz="18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Thank You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914400" y="1097280"/>
            <a:ext cx="731484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GB" sz="3600" b="1" u="none" strike="noStrike">
                <a:solidFill>
                  <a:srgbClr val="0A2540"/>
                </a:solidFill>
                <a:effectLst/>
                <a:uFillTx/>
                <a:latin typeface="Arial"/>
              </a:rPr>
              <a:t>Thank You!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</a:pPr>
            <a:r>
              <a:rPr lang="en-GB" sz="200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Questions &amp; Discussion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500"/>
              </a:spcBef>
            </a:pPr>
            <a:r>
              <a:rPr lang="en-GB" sz="1300" b="1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Project: Privacy-Preserving Federated Generative Replay for Rare Disease Diagnosis (IPF)</a:t>
            </a:r>
            <a:endParaRPr lang="en-GB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01"/>
              </a:spcBef>
            </a:pPr>
            <a:r>
              <a:rPr lang="en-GB" sz="1200" b="0" u="none" strike="noStrike">
                <a:solidFill>
                  <a:srgbClr val="282C34"/>
                </a:solidFill>
                <a:effectLst/>
                <a:uFillTx/>
                <a:latin typeface="Arial"/>
              </a:rPr>
              <a:t>Guide: Prof. Mallikarjun Akki  |  Team 48: Ishwari J, Rakshita J, Amrutavarshini B, Aditya C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GB" sz="1100" b="0" u="none" strike="noStrike">
                <a:solidFill>
                  <a:srgbClr val="646973"/>
                </a:solidFill>
                <a:effectLst/>
                <a:uFillTx/>
                <a:latin typeface="Arial"/>
              </a:rPr>
              <a:t>Department of Computer Science and Engineering, KLE Technological University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GB" sz="1100" b="1" u="none" strike="noStrike">
                <a:solidFill>
                  <a:srgbClr val="1A5FB4"/>
                </a:solidFill>
                <a:effectLst/>
                <a:uFillTx/>
                <a:latin typeface="Arial"/>
              </a:rPr>
              <a:t>GitHub: https://github.com/Aditya-c-hu/FedGen-Rare-for-Idiopathic-Pulmonary-Fibrosis.git</a:t>
            </a:r>
            <a:endParaRPr lang="en-GB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LibreOffice/26.2.6.3$Linux_X86_64 LibreOffice_project/620$Build-3</Application>
  <AppVersion>15.0000</AppVersion>
  <Words>11173</Words>
  <Paragraphs>258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2026-09-07T07:17:53Z</dcterms:created>
  <dc:creator>LENOVO</dc:creator>
  <dc:description/>
  <dc:language>en-GB</dc:language>
  <cp:lastModifiedBy/>
  <dcterms:modified xsi:type="dcterms:W3CDTF">2026-10-14T13:17:19Z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F67514CA0F094CE39DABDBFFF59B275D_13</vt:lpwstr>
  </property>
  <property fmtid="{D5CDD505-2E9C-101B-9397-08002B2CF9AE}" pid="3" name="KSOProductBuildVer">
    <vt:lpwstr>1033-12.1.0.28485</vt:lpwstr>
  </property>
  <property fmtid="{D5CDD505-2E9C-101B-9397-08002B2CF9AE}" pid="4" name="Notes">
    <vt:i4>16</vt:i4>
  </property>
  <property fmtid="{D5CDD505-2E9C-101B-9397-08002B2CF9AE}" pid="5" name="PresentationFormat">
    <vt:lpwstr>On-screen Show (16:9)</vt:lpwstr>
  </property>
  <property fmtid="{D5CDD505-2E9C-101B-9397-08002B2CF9AE}" pid="6" name="Slides">
    <vt:i4>17</vt:i4>
  </property>
</Properties>
</file>