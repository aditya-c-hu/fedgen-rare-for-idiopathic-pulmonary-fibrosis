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68" r:id="rId5"/>
    <p:sldId id="269" r:id="rId6"/>
    <p:sldId id="259" r:id="rId7"/>
    <p:sldId id="260" r:id="rId8"/>
    <p:sldId id="262" r:id="rId9"/>
    <p:sldId id="261" r:id="rId10"/>
    <p:sldId id="263" r:id="rId11"/>
    <p:sldId id="264" r:id="rId12"/>
    <p:sldId id="265" r:id="rId13"/>
    <p:sldId id="266" r:id="rId14"/>
    <p:sldId id="267" r:id="rId15"/>
    <p:sldId id="257" r:id="rId16"/>
    <p:sldId id="273" r:id="rId17"/>
    <p:sldId id="258" r:id="rId18"/>
    <p:sldId id="274" r:id="rId19"/>
    <p:sldId id="271" r:id="rId2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72"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D8E879-E669-4775-889E-EFD9E0253DF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61" autoAdjust="0"/>
    <p:restoredTop sz="94660"/>
  </p:normalViewPr>
  <p:slideViewPr>
    <p:cSldViewPr snapToGrid="0" showGuides="1">
      <p:cViewPr varScale="1">
        <p:scale>
          <a:sx n="115" d="100"/>
          <a:sy n="115" d="100"/>
        </p:scale>
        <p:origin x="451" y="77"/>
      </p:cViewPr>
      <p:guideLst>
        <p:guide orient="horz" pos="1620"/>
        <p:guide pos="287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7"/>
        <p:cNvGrpSpPr/>
        <p:nvPr/>
      </p:nvGrpSpPr>
      <p:grpSpPr>
        <a:xfrm>
          <a:off x="0" y="0"/>
          <a:ext cx="0" cy="0"/>
          <a:chOff x="0" y="0"/>
          <a:chExt cx="0" cy="0"/>
        </a:xfrm>
      </p:grpSpPr>
      <p:sp>
        <p:nvSpPr>
          <p:cNvPr id="138" name="Google Shape;138;g3782a8008b9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782a8008b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45"/>
        <p:cNvGrpSpPr/>
        <p:nvPr/>
      </p:nvGrpSpPr>
      <p:grpSpPr>
        <a:xfrm>
          <a:off x="0" y="0"/>
          <a:ext cx="0" cy="0"/>
          <a:chOff x="0" y="0"/>
          <a:chExt cx="0" cy="0"/>
        </a:xfrm>
      </p:grpSpPr>
      <p:sp>
        <p:nvSpPr>
          <p:cNvPr id="146" name="Google Shape;146;g3782a8008b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782a8008b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74"/>
        <p:cNvGrpSpPr/>
        <p:nvPr/>
      </p:nvGrpSpPr>
      <p:grpSpPr>
        <a:xfrm>
          <a:off x="0" y="0"/>
          <a:ext cx="0" cy="0"/>
          <a:chOff x="0" y="0"/>
          <a:chExt cx="0" cy="0"/>
        </a:xfrm>
      </p:grpSpPr>
      <p:sp>
        <p:nvSpPr>
          <p:cNvPr id="75" name="Google Shape;75;g3782a8008b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782a8008b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1"/>
        <p:cNvGrpSpPr/>
        <p:nvPr/>
      </p:nvGrpSpPr>
      <p:grpSpPr>
        <a:xfrm>
          <a:off x="0" y="0"/>
          <a:ext cx="0" cy="0"/>
          <a:chOff x="0" y="0"/>
          <a:chExt cx="0" cy="0"/>
        </a:xfrm>
      </p:grpSpPr>
      <p:sp>
        <p:nvSpPr>
          <p:cNvPr id="82" name="Google Shape;82;g3782a8008b9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782a8008b9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95"/>
        <p:cNvGrpSpPr/>
        <p:nvPr/>
      </p:nvGrpSpPr>
      <p:grpSpPr>
        <a:xfrm>
          <a:off x="0" y="0"/>
          <a:ext cx="0" cy="0"/>
          <a:chOff x="0" y="0"/>
          <a:chExt cx="0" cy="0"/>
        </a:xfrm>
      </p:grpSpPr>
      <p:sp>
        <p:nvSpPr>
          <p:cNvPr id="96" name="Google Shape;96;g3757fdc91dc_5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757fdc91dc_5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8"/>
        <p:cNvGrpSpPr/>
        <p:nvPr/>
      </p:nvGrpSpPr>
      <p:grpSpPr>
        <a:xfrm>
          <a:off x="0" y="0"/>
          <a:ext cx="0" cy="0"/>
          <a:chOff x="0" y="0"/>
          <a:chExt cx="0" cy="0"/>
        </a:xfrm>
      </p:grpSpPr>
      <p:sp>
        <p:nvSpPr>
          <p:cNvPr id="89" name="Google Shape;89;g3782a8008b9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782a8008b9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2"/>
        <p:cNvGrpSpPr/>
        <p:nvPr/>
      </p:nvGrpSpPr>
      <p:grpSpPr>
        <a:xfrm>
          <a:off x="0" y="0"/>
          <a:ext cx="0" cy="0"/>
          <a:chOff x="0" y="0"/>
          <a:chExt cx="0" cy="0"/>
        </a:xfrm>
      </p:grpSpPr>
      <p:sp>
        <p:nvSpPr>
          <p:cNvPr id="103" name="Google Shape;103;g3757fdc91dc_5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3757fdc91dc_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9"/>
        <p:cNvGrpSpPr/>
        <p:nvPr/>
      </p:nvGrpSpPr>
      <p:grpSpPr>
        <a:xfrm>
          <a:off x="0" y="0"/>
          <a:ext cx="0" cy="0"/>
          <a:chOff x="0" y="0"/>
          <a:chExt cx="0" cy="0"/>
        </a:xfrm>
      </p:grpSpPr>
      <p:sp>
        <p:nvSpPr>
          <p:cNvPr id="110" name="Google Shape;110;g3757fdc91dc_8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3757fdc91dc_8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16"/>
        <p:cNvGrpSpPr/>
        <p:nvPr/>
      </p:nvGrpSpPr>
      <p:grpSpPr>
        <a:xfrm>
          <a:off x="0" y="0"/>
          <a:ext cx="0" cy="0"/>
          <a:chOff x="0" y="0"/>
          <a:chExt cx="0" cy="0"/>
        </a:xfrm>
      </p:grpSpPr>
      <p:sp>
        <p:nvSpPr>
          <p:cNvPr id="117" name="Google Shape;117;g3757fdc91dc_9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757fdc91dc_9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3"/>
        <p:cNvGrpSpPr/>
        <p:nvPr/>
      </p:nvGrpSpPr>
      <p:grpSpPr>
        <a:xfrm>
          <a:off x="0" y="0"/>
          <a:ext cx="0" cy="0"/>
          <a:chOff x="0" y="0"/>
          <a:chExt cx="0" cy="0"/>
        </a:xfrm>
      </p:grpSpPr>
      <p:sp>
        <p:nvSpPr>
          <p:cNvPr id="124" name="Google Shape;124;g3757fdc91dc_6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757fdc91dc_6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0"/>
        <p:cNvGrpSpPr/>
        <p:nvPr/>
      </p:nvGrpSpPr>
      <p:grpSpPr>
        <a:xfrm>
          <a:off x="0" y="0"/>
          <a:ext cx="0" cy="0"/>
          <a:chOff x="0" y="0"/>
          <a:chExt cx="0" cy="0"/>
        </a:xfrm>
      </p:grpSpPr>
      <p:sp>
        <p:nvSpPr>
          <p:cNvPr id="131" name="Google Shape;131;g3757fdc91dc_6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757fdc91dc_6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8"/>
        <p:cNvGrpSpPr/>
        <p:nvPr/>
      </p:nvGrpSpPr>
      <p:grpSpPr>
        <a:xfrm>
          <a:off x="0" y="0"/>
          <a:ext cx="0" cy="0"/>
          <a:chOff x="0" y="0"/>
          <a:chExt cx="0" cy="0"/>
        </a:xfrm>
      </p:grpSpPr>
      <p:sp>
        <p:nvSpPr>
          <p:cNvPr id="59" name="Google Shape;59;g3782a8008b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3782a8008b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8"/>
        <p:cNvGrpSpPr/>
        <p:nvPr/>
      </p:nvGrpSpPr>
      <p:grpSpPr>
        <a:xfrm>
          <a:off x="0" y="0"/>
          <a:ext cx="0" cy="0"/>
          <a:chOff x="0" y="0"/>
          <a:chExt cx="0" cy="0"/>
        </a:xfrm>
      </p:grpSpPr>
      <p:sp>
        <p:nvSpPr>
          <p:cNvPr id="59" name="Google Shape;59;g3782a8008b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3782a8008b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6"/>
        <p:cNvGrpSpPr/>
        <p:nvPr/>
      </p:nvGrpSpPr>
      <p:grpSpPr>
        <a:xfrm>
          <a:off x="0" y="0"/>
          <a:ext cx="0" cy="0"/>
          <a:chOff x="0" y="0"/>
          <a:chExt cx="0" cy="0"/>
        </a:xfrm>
      </p:grpSpPr>
      <p:sp>
        <p:nvSpPr>
          <p:cNvPr id="67" name="Google Shape;67;g3782a8008b9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782a8008b9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8"/>
        <p:cNvGrpSpPr/>
        <p:nvPr/>
      </p:nvGrpSpPr>
      <p:grpSpPr>
        <a:xfrm>
          <a:off x="0" y="0"/>
          <a:ext cx="0" cy="0"/>
          <a:chOff x="0" y="0"/>
          <a:chExt cx="0" cy="0"/>
        </a:xfrm>
      </p:grpSpPr>
      <p:sp>
        <p:nvSpPr>
          <p:cNvPr id="59" name="Google Shape;59;g3782a8008b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3782a8008b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61"/>
        <p:cNvGrpSpPr/>
        <p:nvPr/>
      </p:nvGrpSpPr>
      <p:grpSpPr>
        <a:xfrm>
          <a:off x="0" y="0"/>
          <a:ext cx="0" cy="0"/>
          <a:chOff x="0" y="0"/>
          <a:chExt cx="0" cy="0"/>
        </a:xfrm>
      </p:grpSpPr>
      <p:sp>
        <p:nvSpPr>
          <p:cNvPr id="162" name="Google Shape;162;g3782a8008b9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782a8008b9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595625" y="1779201"/>
            <a:ext cx="2058567" cy="533392"/>
          </a:xfrm>
          <a:prstGeom prst="rect">
            <a:avLst/>
          </a:prstGeom>
        </p:spPr>
        <p:txBody>
          <a:bodyPr spcFirstLastPara="1" wrap="square" lIns="91425" tIns="91425" rIns="91425" bIns="91425" anchor="b" anchorCtr="0">
            <a:noAutofit/>
          </a:bodyPr>
          <a:lstStyle/>
          <a:p>
            <a:pPr marL="0" lvl="0" indent="0" algn="just" rtl="0">
              <a:spcBef>
                <a:spcPts val="0"/>
              </a:spcBef>
              <a:spcAft>
                <a:spcPts val="0"/>
              </a:spcAft>
              <a:buNone/>
            </a:pPr>
            <a:r>
              <a:rPr lang="en-GB" sz="2000" b="1" dirty="0">
                <a:latin typeface="Times New Roman" panose="02020603050405020304" pitchFamily="18" charset="0"/>
                <a:cs typeface="Times New Roman" panose="02020603050405020304" pitchFamily="18" charset="0"/>
              </a:rPr>
              <a:t>Team - 48</a:t>
            </a:r>
            <a:endParaRPr sz="2000" b="1" dirty="0">
              <a:latin typeface="Times New Roman" panose="02020603050405020304" pitchFamily="18" charset="0"/>
              <a:cs typeface="Times New Roman" panose="02020603050405020304" pitchFamily="18" charset="0"/>
            </a:endParaRPr>
          </a:p>
        </p:txBody>
      </p:sp>
      <p:pic>
        <p:nvPicPr>
          <p:cNvPr id="55" name="Google Shape;55;p13"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56" name="Google Shape;56;p13"/>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57" name="Google Shape;57;p13"/>
          <p:cNvGraphicFramePr/>
          <p:nvPr/>
        </p:nvGraphicFramePr>
        <p:xfrm>
          <a:off x="1005411" y="2346352"/>
          <a:ext cx="7239000" cy="1981050"/>
        </p:xfrm>
        <a:graphic>
          <a:graphicData uri="http://schemas.openxmlformats.org/drawingml/2006/table">
            <a:tbl>
              <a:tblPr>
                <a:noFill/>
                <a:tableStyleId>{69D8E879-E669-4775-889E-EFD9E0253DFF}</a:tableStyleId>
              </a:tblPr>
              <a:tblGrid>
                <a:gridCol w="2413000"/>
                <a:gridCol w="2413000"/>
                <a:gridCol w="2413000"/>
              </a:tblGrid>
              <a:tr h="3810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NAME</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ROLL NO</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USN</a:t>
                      </a:r>
                      <a:endParaRPr b="1">
                        <a:latin typeface="Times New Roman" panose="02020603050405020304" pitchFamily="18" charset="0"/>
                        <a:cs typeface="Times New Roman" panose="02020603050405020304" pitchFamily="18" charset="0"/>
                      </a:endParaRPr>
                    </a:p>
                  </a:txBody>
                  <a:tcPr marL="91425" marR="91425" marT="91425" marB="91425"/>
                </a:tc>
              </a:tr>
              <a:tr h="381000">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Ishwari J</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117</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01FE23BCS093</a:t>
                      </a:r>
                      <a:endParaRPr dirty="0">
                        <a:latin typeface="Times New Roman" panose="02020603050405020304" pitchFamily="18" charset="0"/>
                        <a:cs typeface="Times New Roman" panose="02020603050405020304" pitchFamily="18" charset="0"/>
                      </a:endParaRPr>
                    </a:p>
                  </a:txBody>
                  <a:tcPr marL="91425" marR="91425" marT="91425" marB="91425"/>
                </a:tc>
              </a:tr>
              <a:tr h="381000">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Rakshita J</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217</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solidFill>
                            <a:schemeClr val="dk1"/>
                          </a:solidFill>
                          <a:latin typeface="Times New Roman" panose="02020603050405020304" pitchFamily="18" charset="0"/>
                          <a:cs typeface="Times New Roman" panose="02020603050405020304" pitchFamily="18" charset="0"/>
                        </a:rPr>
                        <a:t>01FE23BCS082</a:t>
                      </a:r>
                      <a:endParaRPr dirty="0">
                        <a:latin typeface="Times New Roman" panose="02020603050405020304" pitchFamily="18" charset="0"/>
                        <a:cs typeface="Times New Roman" panose="02020603050405020304" pitchFamily="18" charset="0"/>
                      </a:endParaRPr>
                    </a:p>
                  </a:txBody>
                  <a:tcPr marL="91425" marR="91425" marT="91425" marB="91425"/>
                </a:tc>
              </a:tr>
              <a:tr h="381000">
                <a:tc>
                  <a:txBody>
                    <a:bodyPr/>
                    <a:lstStyle/>
                    <a:p>
                      <a:pPr marL="0" lvl="0" indent="0" algn="l" rtl="0">
                        <a:spcBef>
                          <a:spcPts val="0"/>
                        </a:spcBef>
                        <a:spcAft>
                          <a:spcPts val="0"/>
                        </a:spcAft>
                        <a:buNone/>
                      </a:pPr>
                      <a:r>
                        <a:rPr lang="en-US" dirty="0" err="1">
                          <a:latin typeface="Times New Roman" panose="02020603050405020304" pitchFamily="18" charset="0"/>
                          <a:cs typeface="Times New Roman" panose="02020603050405020304" pitchFamily="18" charset="0"/>
                        </a:rPr>
                        <a:t>Amrutavarshini</a:t>
                      </a:r>
                      <a:r>
                        <a:rPr lang="en-US" dirty="0">
                          <a:latin typeface="Times New Roman" panose="02020603050405020304" pitchFamily="18" charset="0"/>
                          <a:cs typeface="Times New Roman" panose="02020603050405020304" pitchFamily="18" charset="0"/>
                        </a:rPr>
                        <a:t> B</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219</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01FE23BCI024</a:t>
                      </a:r>
                      <a:endParaRPr dirty="0">
                        <a:latin typeface="Times New Roman" panose="02020603050405020304" pitchFamily="18" charset="0"/>
                        <a:cs typeface="Times New Roman" panose="02020603050405020304" pitchFamily="18" charset="0"/>
                      </a:endParaRPr>
                    </a:p>
                  </a:txBody>
                  <a:tcPr marL="91425" marR="91425" marT="91425" marB="91425"/>
                </a:tc>
              </a:tr>
              <a:tr h="381000">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Aditya C</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217</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dirty="0">
                          <a:latin typeface="Times New Roman" panose="02020603050405020304" pitchFamily="18" charset="0"/>
                          <a:cs typeface="Times New Roman" panose="02020603050405020304" pitchFamily="18" charset="0"/>
                        </a:rPr>
                        <a:t>01FE23BCI043</a:t>
                      </a:r>
                      <a:endParaRPr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
        <p:nvSpPr>
          <p:cNvPr id="2" name="TextBox 1"/>
          <p:cNvSpPr txBox="1"/>
          <p:nvPr/>
        </p:nvSpPr>
        <p:spPr>
          <a:xfrm>
            <a:off x="152301" y="1401682"/>
            <a:ext cx="8945217" cy="400110"/>
          </a:xfrm>
          <a:prstGeom prst="rect">
            <a:avLst/>
          </a:prstGeom>
          <a:noFill/>
        </p:spPr>
        <p:txBody>
          <a:bodyPr wrap="square" rtlCol="0">
            <a:spAutoFit/>
          </a:bodyPr>
          <a:lstStyle/>
          <a:p>
            <a:pPr algn="just"/>
            <a:r>
              <a:rPr lang="en-US" sz="2000" b="1" dirty="0">
                <a:latin typeface="Times New Roman" panose="02020603050405020304" pitchFamily="18" charset="0"/>
                <a:cs typeface="Times New Roman" panose="02020603050405020304" pitchFamily="18" charset="0"/>
              </a:rPr>
              <a:t>Title : </a:t>
            </a:r>
            <a:r>
              <a:rPr lang="en-US" sz="2000" dirty="0">
                <a:latin typeface="Times New Roman" panose="02020603050405020304" pitchFamily="18" charset="0"/>
                <a:cs typeface="Times New Roman" panose="02020603050405020304" pitchFamily="18" charset="0"/>
              </a:rPr>
              <a:t>Privacy-Preserving Federated Generative Replay for Rare Disease Diagnosis</a:t>
            </a:r>
            <a:endParaRPr lang="en-IN" sz="2000" dirty="0">
              <a:latin typeface="Times New Roman" panose="02020603050405020304" pitchFamily="18" charset="0"/>
              <a:cs typeface="Times New Roman" panose="02020603050405020304" pitchFamily="18" charset="0"/>
            </a:endParaRPr>
          </a:p>
        </p:txBody>
      </p:sp>
      <p:sp>
        <p:nvSpPr>
          <p:cNvPr id="3" name="TextBox 2"/>
          <p:cNvSpPr txBox="1"/>
          <p:nvPr/>
        </p:nvSpPr>
        <p:spPr>
          <a:xfrm>
            <a:off x="5645426" y="4497798"/>
            <a:ext cx="2787943" cy="369332"/>
          </a:xfrm>
          <a:prstGeom prst="rect">
            <a:avLst/>
          </a:prstGeom>
          <a:noFill/>
        </p:spPr>
        <p:txBody>
          <a:bodyPr wrap="none" rtlCol="0">
            <a:spAutoFit/>
          </a:bodyPr>
          <a:lstStyle/>
          <a:p>
            <a:pPr algn="just"/>
            <a:r>
              <a:rPr lang="en-US" sz="1800" b="1" dirty="0">
                <a:latin typeface="Times New Roman" panose="02020603050405020304" pitchFamily="18" charset="0"/>
                <a:cs typeface="Times New Roman" panose="02020603050405020304" pitchFamily="18" charset="0"/>
              </a:rPr>
              <a:t>Guide : Mallikarjun Akki </a:t>
            </a:r>
            <a:endParaRPr lang="en-IN" sz="18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2328447" y="831176"/>
            <a:ext cx="4592924" cy="400110"/>
          </a:xfrm>
          <a:prstGeom prst="rect">
            <a:avLst/>
          </a:prstGeom>
          <a:noFill/>
        </p:spPr>
        <p:txBody>
          <a:bodyPr wrap="none" rtlCol="0">
            <a:spAutoFit/>
          </a:bodyPr>
          <a:lstStyle/>
          <a:p>
            <a:pPr algn="just"/>
            <a:r>
              <a:rPr lang="en-US" sz="2000" b="1" dirty="0">
                <a:latin typeface="Times New Roman" panose="02020603050405020304" pitchFamily="18" charset="0"/>
                <a:cs typeface="Times New Roman" panose="02020603050405020304" pitchFamily="18" charset="0"/>
              </a:rPr>
              <a:t>Senior Design Project (SDP) – Review 1 </a:t>
            </a:r>
            <a:endParaRPr lang="en-IN" sz="2000"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5"/>
          <p:cNvSpPr txBox="1">
            <a:spLocks noGrp="1"/>
          </p:cNvSpPr>
          <p:nvPr>
            <p:ph type="ctrTitle"/>
          </p:nvPr>
        </p:nvSpPr>
        <p:spPr>
          <a:xfrm>
            <a:off x="251791" y="58300"/>
            <a:ext cx="3722576" cy="72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sz="3200" b="1" dirty="0">
                <a:latin typeface="Times New Roman" panose="02020603050405020304" pitchFamily="18" charset="0"/>
                <a:cs typeface="Times New Roman" panose="02020603050405020304" pitchFamily="18" charset="0"/>
              </a:rPr>
              <a:t>Motivation</a:t>
            </a:r>
            <a:endParaRPr sz="3200" b="1" dirty="0">
              <a:latin typeface="Times New Roman" panose="02020603050405020304" pitchFamily="18" charset="0"/>
              <a:cs typeface="Times New Roman" panose="02020603050405020304" pitchFamily="18" charset="0"/>
            </a:endParaRPr>
          </a:p>
        </p:txBody>
      </p:sp>
      <p:pic>
        <p:nvPicPr>
          <p:cNvPr id="142" name="Google Shape;142;p25"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43" name="Google Shape;143;p25"/>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
        <p:nvSpPr>
          <p:cNvPr id="144" name="Google Shape;144;p25"/>
          <p:cNvSpPr txBox="1"/>
          <p:nvPr/>
        </p:nvSpPr>
        <p:spPr>
          <a:xfrm>
            <a:off x="251791" y="774575"/>
            <a:ext cx="8005800" cy="2809200"/>
          </a:xfrm>
          <a:prstGeom prst="rect">
            <a:avLst/>
          </a:prstGeom>
          <a:noFill/>
          <a:ln>
            <a:noFill/>
          </a:ln>
        </p:spPr>
        <p:txBody>
          <a:bodyPr spcFirstLastPara="1" wrap="square" lIns="91425" tIns="91425" rIns="91425" bIns="91425" anchor="t" anchorCtr="0">
            <a:noAutofit/>
          </a:bodyPr>
          <a:lstStyle/>
          <a:p>
            <a:pPr lvl="0" algn="just"/>
            <a:r>
              <a:rPr lang="en-IN" sz="1800" dirty="0">
                <a:latin typeface="Times New Roman" panose="02020603050405020304" pitchFamily="18" charset="0"/>
                <a:cs typeface="Times New Roman" panose="02020603050405020304" pitchFamily="18" charset="0"/>
              </a:rPr>
              <a:t>Rare diseases are difficult to diagnose because hospitals often have only a small amount of patient data, and the data is spread across different hospitals. Since medical information is private, hospitals cannot easily share their patient records. Federated Learning allows hospitals to work together without sharing raw data, but it still struggles when there are very few samples of rare diseases. Therefore, Generative Replay can be used to create useful synthetic samples of rare diseases, helping the model learn better while keeping the original patient data private and secure.</a:t>
            </a:r>
            <a:endParaRPr sz="1800" dirty="0">
              <a:solidFill>
                <a:schemeClr val="dk2"/>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6"/>
          <p:cNvSpPr txBox="1">
            <a:spLocks noGrp="1"/>
          </p:cNvSpPr>
          <p:nvPr>
            <p:ph type="ctrTitle"/>
          </p:nvPr>
        </p:nvSpPr>
        <p:spPr>
          <a:xfrm>
            <a:off x="296199" y="58300"/>
            <a:ext cx="5642700" cy="7257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GB" sz="3200" b="1" dirty="0">
                <a:latin typeface="Times New Roman" panose="02020603050405020304" pitchFamily="18" charset="0"/>
                <a:cs typeface="Times New Roman" panose="02020603050405020304" pitchFamily="18" charset="0"/>
              </a:rPr>
              <a:t>Problem Analysis</a:t>
            </a:r>
            <a:endParaRPr sz="3200" b="1" dirty="0">
              <a:latin typeface="Times New Roman" panose="02020603050405020304" pitchFamily="18" charset="0"/>
              <a:cs typeface="Times New Roman" panose="02020603050405020304" pitchFamily="18" charset="0"/>
            </a:endParaRPr>
          </a:p>
        </p:txBody>
      </p:sp>
      <p:pic>
        <p:nvPicPr>
          <p:cNvPr id="150" name="Google Shape;150;p26"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51" name="Google Shape;151;p26"/>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
        <p:nvSpPr>
          <p:cNvPr id="152" name="Google Shape;152;p26"/>
          <p:cNvSpPr txBox="1"/>
          <p:nvPr/>
        </p:nvSpPr>
        <p:spPr>
          <a:xfrm>
            <a:off x="296199" y="784000"/>
            <a:ext cx="8649017" cy="4359500"/>
          </a:xfrm>
          <a:prstGeom prst="rect">
            <a:avLst/>
          </a:prstGeom>
          <a:noFill/>
          <a:ln>
            <a:noFill/>
          </a:ln>
        </p:spPr>
        <p:txBody>
          <a:bodyPr spcFirstLastPara="1" wrap="square" lIns="91425" tIns="91425" rIns="91425" bIns="91425" anchor="t" anchorCtr="0">
            <a:noAutofit/>
          </a:bodyPr>
          <a:lstStyle/>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Rare disease datasets contain very few patient samples, making model training difficult.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Patient data is distributed across different hospitals, so it cannot be easily collected in one place.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The data is highly imbalanced, with common diseases having much more data than rare diseases.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Privacy regulations prevent hospitals from directly sharing sensitive patient information.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Traditional Federated Learning allows collaboration, but it can still perform poorly on rare minority classes.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Models trained on limited rare-disease data may have low accuracy and poor generalization.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Generative Replay can help the model retain rare-class knowledge and improve learning. </a:t>
            </a:r>
            <a:endParaRPr lang="en-IN" sz="1800" dirty="0">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The main challenge is to improve rare disease diagnosis while maintaining patient privacy.</a:t>
            </a:r>
            <a:endParaRPr lang="en-IN" sz="18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6"/>
          <p:cNvSpPr txBox="1">
            <a:spLocks noGrp="1"/>
          </p:cNvSpPr>
          <p:nvPr>
            <p:ph type="ctrTitle"/>
          </p:nvPr>
        </p:nvSpPr>
        <p:spPr>
          <a:xfrm>
            <a:off x="2412179" y="2208900"/>
            <a:ext cx="4319641" cy="72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sz="4000" b="1" dirty="0">
                <a:latin typeface="Times New Roman" panose="02020603050405020304" pitchFamily="18" charset="0"/>
                <a:cs typeface="Times New Roman" panose="02020603050405020304" pitchFamily="18" charset="0"/>
              </a:rPr>
              <a:t>Literature Survey</a:t>
            </a:r>
            <a:endParaRPr sz="4000" b="1" dirty="0">
              <a:latin typeface="Times New Roman" panose="02020603050405020304" pitchFamily="18" charset="0"/>
              <a:cs typeface="Times New Roman" panose="02020603050405020304" pitchFamily="18" charset="0"/>
            </a:endParaRPr>
          </a:p>
        </p:txBody>
      </p:sp>
      <p:pic>
        <p:nvPicPr>
          <p:cNvPr id="79" name="Google Shape;79;p16"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80" name="Google Shape;80;p16"/>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pic>
        <p:nvPicPr>
          <p:cNvPr id="85" name="Google Shape;85;p17"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86" name="Google Shape;86;p17"/>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87" name="Google Shape;87;p17"/>
          <p:cNvGraphicFramePr/>
          <p:nvPr/>
        </p:nvGraphicFramePr>
        <p:xfrm>
          <a:off x="239825" y="921700"/>
          <a:ext cx="8637625" cy="4109425"/>
        </p:xfrm>
        <a:graphic>
          <a:graphicData uri="http://schemas.openxmlformats.org/drawingml/2006/table">
            <a:tbl>
              <a:tblPr>
                <a:noFill/>
                <a:tableStyleId>{69D8E879-E669-4775-889E-EFD9E0253DFF}</a:tableStyleId>
              </a:tblPr>
              <a:tblGrid>
                <a:gridCol w="1727525"/>
                <a:gridCol w="1749885"/>
                <a:gridCol w="170516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spcBef>
                          <a:spcPts val="0"/>
                        </a:spcBef>
                        <a:spcAft>
                          <a:spcPts val="0"/>
                        </a:spcAft>
                        <a:buNone/>
                      </a:pPr>
                      <a:r>
                        <a:rPr lang="en-IN" sz="1200" dirty="0">
                          <a:latin typeface="Times New Roman" panose="02020603050405020304" pitchFamily="18" charset="0"/>
                          <a:cs typeface="Times New Roman" panose="02020603050405020304" pitchFamily="18" charset="0"/>
                        </a:rPr>
                        <a:t>Xiaoyu Jiang, Jinchuan Qian, </a:t>
                      </a:r>
                      <a:r>
                        <a:rPr lang="en-IN" sz="1200" dirty="0" err="1">
                          <a:latin typeface="Times New Roman" panose="02020603050405020304" pitchFamily="18" charset="0"/>
                          <a:cs typeface="Times New Roman" panose="02020603050405020304" pitchFamily="18" charset="0"/>
                        </a:rPr>
                        <a:t>Aoguang</a:t>
                      </a:r>
                      <a:r>
                        <a:rPr lang="en-IN" sz="1200" dirty="0">
                          <a:latin typeface="Times New Roman" panose="02020603050405020304" pitchFamily="18" charset="0"/>
                          <a:cs typeface="Times New Roman" panose="02020603050405020304" pitchFamily="18" charset="0"/>
                        </a:rPr>
                        <a:t> Gu, Xiaoguang Ma, Kai Jin, Xinmin Zhang, </a:t>
                      </a:r>
                      <a:r>
                        <a:rPr lang="en-IN" sz="1200" dirty="0" err="1">
                          <a:latin typeface="Times New Roman" panose="02020603050405020304" pitchFamily="18" charset="0"/>
                          <a:cs typeface="Times New Roman" panose="02020603050405020304" pitchFamily="18" charset="0"/>
                        </a:rPr>
                        <a:t>Zhihuan</a:t>
                      </a:r>
                      <a:r>
                        <a:rPr lang="en-IN" sz="1200" dirty="0">
                          <a:latin typeface="Times New Roman" panose="02020603050405020304" pitchFamily="18" charset="0"/>
                          <a:cs typeface="Times New Roman" panose="02020603050405020304" pitchFamily="18" charset="0"/>
                        </a:rPr>
                        <a:t> Song (</a:t>
                      </a:r>
                      <a:r>
                        <a:rPr lang="en-IN" sz="1200">
                          <a:latin typeface="Times New Roman" panose="02020603050405020304" pitchFamily="18" charset="0"/>
                          <a:cs typeface="Times New Roman" panose="02020603050405020304" pitchFamily="18" charset="0"/>
                        </a:rPr>
                        <a:t>2026)</a:t>
                      </a:r>
                      <a:endParaRPr sz="120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dirty="0" err="1">
                          <a:latin typeface="Times New Roman" panose="02020603050405020304" pitchFamily="18" charset="0"/>
                          <a:cs typeface="Times New Roman" panose="02020603050405020304" pitchFamily="18" charset="0"/>
                        </a:rPr>
                        <a:t>SynthFed</a:t>
                      </a:r>
                      <a:r>
                        <a:rPr lang="en-IN" sz="1200" dirty="0">
                          <a:latin typeface="Times New Roman" panose="02020603050405020304" pitchFamily="18" charset="0"/>
                          <a:cs typeface="Times New Roman" panose="02020603050405020304" pitchFamily="18" charset="0"/>
                        </a:rPr>
                        <a:t>: Privacy-preserving long-tail ophthalmic diagnosis via VQ-VAE and GPT-augmented federated learning</a:t>
                      </a:r>
                      <a:endParaRPr sz="120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Uses VQ-VAE to learn discrete latent representations of fundus images.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GPT to generate disease-specific image representations.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Employs a two-stage federated learning framework for generative model training.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Generates synthetic samples for underrepresented disease classes and uses them to rebalance local datasets.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Three Fundus Fluorescein Angiography (FFA) datasets from multiple hospitals.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D1: 3,199 images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D2: 4,100 images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D3: 16,795 images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dirty="0">
                          <a:latin typeface="Times New Roman" panose="02020603050405020304" pitchFamily="18" charset="0"/>
                          <a:cs typeface="Times New Roman" panose="02020603050405020304" pitchFamily="18" charset="0"/>
                        </a:rPr>
                        <a:t>• Synthetic images improved the representation of rare disease classes. </a:t>
                      </a:r>
                      <a:br>
                        <a:rPr lang="en-IN" sz="1200" dirty="0">
                          <a:latin typeface="Times New Roman" panose="02020603050405020304" pitchFamily="18" charset="0"/>
                          <a:cs typeface="Times New Roman" panose="02020603050405020304" pitchFamily="18" charset="0"/>
                        </a:rPr>
                      </a:br>
                      <a:r>
                        <a:rPr lang="en-IN" sz="1200" dirty="0">
                          <a:latin typeface="Times New Roman" panose="02020603050405020304" pitchFamily="18" charset="0"/>
                          <a:cs typeface="Times New Roman" panose="02020603050405020304" pitchFamily="18" charset="0"/>
                        </a:rPr>
                        <a:t>• Improved multi-hospital ophthalmic classification performance, particularly for rare conditions. </a:t>
                      </a:r>
                      <a:br>
                        <a:rPr lang="en-IN" sz="1200" dirty="0">
                          <a:latin typeface="Times New Roman" panose="02020603050405020304" pitchFamily="18" charset="0"/>
                          <a:cs typeface="Times New Roman" panose="02020603050405020304" pitchFamily="18" charset="0"/>
                        </a:rPr>
                      </a:br>
                      <a:r>
                        <a:rPr lang="en-IN" sz="1200" dirty="0">
                          <a:latin typeface="Times New Roman" panose="02020603050405020304" pitchFamily="18" charset="0"/>
                          <a:cs typeface="Times New Roman" panose="02020603050405020304" pitchFamily="18" charset="0"/>
                        </a:rPr>
                        <a:t>• Demonstrates that federated generative augmentation can address long-tail imbalance while keeping data local.</a:t>
                      </a:r>
                      <a:endParaRPr sz="120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pic>
        <p:nvPicPr>
          <p:cNvPr id="99" name="Google Shape;99;p19"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00" name="Google Shape;100;p19"/>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101" name="Google Shape;101;p19"/>
          <p:cNvGraphicFramePr/>
          <p:nvPr/>
        </p:nvGraphicFramePr>
        <p:xfrm>
          <a:off x="239838" y="774575"/>
          <a:ext cx="8637625" cy="4109425"/>
        </p:xfrm>
        <a:graphic>
          <a:graphicData uri="http://schemas.openxmlformats.org/drawingml/2006/table">
            <a:tbl>
              <a:tblPr>
                <a:noFill/>
                <a:tableStyleId>{69D8E879-E669-4775-889E-EFD9E0253DFF}</a:tableStyleId>
              </a:tblPr>
              <a:tblGrid>
                <a:gridCol w="1727525"/>
                <a:gridCol w="1727525"/>
                <a:gridCol w="172752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Rahul Joshi, Suman Kumari, Krishna Pandey (2025)</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Federated Learning for Privacy-Preserving Diagnosis of Rare Diseases from Distributed Clinical Imaging Data</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 Uses Federated Averaging (</a:t>
                      </a:r>
                      <a:r>
                        <a:rPr lang="en-IN" sz="1200" b="0" dirty="0" err="1">
                          <a:latin typeface="Times New Roman" panose="02020603050405020304" pitchFamily="18" charset="0"/>
                          <a:cs typeface="Times New Roman" panose="02020603050405020304" pitchFamily="18" charset="0"/>
                        </a:rPr>
                        <a:t>FedAvg</a:t>
                      </a:r>
                      <a:r>
                        <a:rPr lang="en-IN" sz="1200" b="0" dirty="0">
                          <a:latin typeface="Times New Roman" panose="02020603050405020304" pitchFamily="18" charset="0"/>
                          <a:cs typeface="Times New Roman" panose="02020603050405020304" pitchFamily="18" charset="0"/>
                        </a:rPr>
                        <a:t>) for collaborative training.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a </a:t>
                      </a:r>
                      <a:r>
                        <a:rPr lang="en-IN" sz="1200" b="0" dirty="0" err="1">
                          <a:latin typeface="Times New Roman" panose="02020603050405020304" pitchFamily="18" charset="0"/>
                          <a:cs typeface="Times New Roman" panose="02020603050405020304" pitchFamily="18" charset="0"/>
                        </a:rPr>
                        <a:t>ResNet</a:t>
                      </a:r>
                      <a:r>
                        <a:rPr lang="en-IN" sz="1200" b="0" dirty="0">
                          <a:latin typeface="Times New Roman" panose="02020603050405020304" pitchFamily="18" charset="0"/>
                          <a:cs typeface="Times New Roman" panose="02020603050405020304" pitchFamily="18" charset="0"/>
                        </a:rPr>
                        <a:t>-based diagnostic model at participating institutions.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Hospitals train collaboratively without exchanging raw patient records.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Evaluates generalization across deployment scenarios, including unseen hospital settings and adversarial conditions.</a:t>
                      </a:r>
                      <a:r>
                        <a:rPr lang="en-GB" sz="1200" b="0" dirty="0">
                          <a:solidFill>
                            <a:schemeClr val="dk1"/>
                          </a:solidFill>
                          <a:latin typeface="Times New Roman" panose="02020603050405020304" pitchFamily="18" charset="0"/>
                          <a:cs typeface="Times New Roman" panose="02020603050405020304" pitchFamily="18" charset="0"/>
                        </a:rPr>
                        <a:t>.</a:t>
                      </a:r>
                      <a:endParaRPr sz="1200" b="0" dirty="0">
                        <a:solidFill>
                          <a:schemeClr val="dk1"/>
                        </a:solidFill>
                        <a:latin typeface="Times New Roman" panose="02020603050405020304" pitchFamily="18" charset="0"/>
                        <a:cs typeface="Times New Roman" panose="02020603050405020304" pitchFamily="18" charset="0"/>
                      </a:endParaRPr>
                    </a:p>
                    <a:p>
                      <a:pPr marL="0" lvl="0" indent="0" algn="l" rtl="0">
                        <a:spcBef>
                          <a:spcPts val="0"/>
                        </a:spcBef>
                        <a:spcAft>
                          <a:spcPts val="0"/>
                        </a:spcAft>
                        <a:buNone/>
                      </a:pP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 Distributed clinical imaging data representing rare-disease cases across institutions.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Evaluated under different hospital/deployment scenarios.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Federated training achieved similar accuracy to centralized training while keeping patient data local.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Showed stable generalization across institutions and potential for privacy-preserving rare-disease diagnosis.</a:t>
                      </a: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kle logo.png"/>
          <p:cNvPicPr preferRelativeResize="0"/>
          <p:nvPr/>
        </p:nvPicPr>
        <p:blipFill>
          <a:blip r:embed="rId1"/>
          <a:stretch>
            <a:fillRect/>
          </a:stretch>
        </p:blipFill>
        <p:spPr>
          <a:xfrm>
            <a:off x="6757900" y="91431"/>
            <a:ext cx="2315725" cy="550325"/>
          </a:xfrm>
          <a:prstGeom prst="rect">
            <a:avLst/>
          </a:prstGeom>
          <a:noFill/>
          <a:ln>
            <a:noFill/>
          </a:ln>
        </p:spPr>
      </p:pic>
      <p:cxnSp>
        <p:nvCxnSpPr>
          <p:cNvPr id="93" name="Google Shape;93;p18"/>
          <p:cNvCxnSpPr/>
          <p:nvPr/>
        </p:nvCxnSpPr>
        <p:spPr>
          <a:xfrm>
            <a:off x="-15600" y="707181"/>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94" name="Google Shape;94;p18"/>
          <p:cNvGraphicFramePr/>
          <p:nvPr/>
        </p:nvGraphicFramePr>
        <p:xfrm>
          <a:off x="265043" y="954831"/>
          <a:ext cx="8617957" cy="4109425"/>
        </p:xfrm>
        <a:graphic>
          <a:graphicData uri="http://schemas.openxmlformats.org/drawingml/2006/table">
            <a:tbl>
              <a:tblPr>
                <a:noFill/>
                <a:tableStyleId>{69D8E879-E669-4775-889E-EFD9E0253DFF}</a:tableStyleId>
              </a:tblPr>
              <a:tblGrid>
                <a:gridCol w="1707857"/>
                <a:gridCol w="1727525"/>
                <a:gridCol w="172752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Peng Zhao, </a:t>
                      </a:r>
                      <a:r>
                        <a:rPr lang="en-IN" sz="1200" b="0" dirty="0" err="1">
                          <a:latin typeface="Times New Roman" panose="02020603050405020304" pitchFamily="18" charset="0"/>
                          <a:cs typeface="Times New Roman" panose="02020603050405020304" pitchFamily="18" charset="0"/>
                        </a:rPr>
                        <a:t>Shaocong</a:t>
                      </a:r>
                      <a:r>
                        <a:rPr lang="en-IN" sz="1200" b="0" dirty="0">
                          <a:latin typeface="Times New Roman" panose="02020603050405020304" pitchFamily="18" charset="0"/>
                          <a:cs typeface="Times New Roman" panose="02020603050405020304" pitchFamily="18" charset="0"/>
                        </a:rPr>
                        <a:t> Guo, Yanan Li, </a:t>
                      </a:r>
                      <a:r>
                        <a:rPr lang="en-IN" sz="1200" b="0" dirty="0" err="1">
                          <a:latin typeface="Times New Roman" panose="02020603050405020304" pitchFamily="18" charset="0"/>
                          <a:cs typeface="Times New Roman" panose="02020603050405020304" pitchFamily="18" charset="0"/>
                        </a:rPr>
                        <a:t>Shusen</a:t>
                      </a:r>
                      <a:r>
                        <a:rPr lang="en-IN" sz="1200" b="0" dirty="0">
                          <a:latin typeface="Times New Roman" panose="02020603050405020304" pitchFamily="18" charset="0"/>
                          <a:cs typeface="Times New Roman" panose="02020603050405020304" pitchFamily="18" charset="0"/>
                        </a:rPr>
                        <a:t> Yang, </a:t>
                      </a:r>
                      <a:r>
                        <a:rPr lang="en-IN" sz="1200" b="0" dirty="0" err="1">
                          <a:latin typeface="Times New Roman" panose="02020603050405020304" pitchFamily="18" charset="0"/>
                          <a:cs typeface="Times New Roman" panose="02020603050405020304" pitchFamily="18" charset="0"/>
                        </a:rPr>
                        <a:t>Xuebin</a:t>
                      </a:r>
                      <a:r>
                        <a:rPr lang="en-IN" sz="1200" b="0" dirty="0">
                          <a:latin typeface="Times New Roman" panose="02020603050405020304" pitchFamily="18" charset="0"/>
                          <a:cs typeface="Times New Roman" panose="02020603050405020304" pitchFamily="18" charset="0"/>
                        </a:rPr>
                        <a:t> Ren (2025) </a:t>
                      </a:r>
                      <a:endParaRPr lang="en-GB"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err="1">
                          <a:latin typeface="Times New Roman" panose="02020603050405020304" pitchFamily="18" charset="0"/>
                          <a:cs typeface="Times New Roman" panose="02020603050405020304" pitchFamily="18" charset="0"/>
                        </a:rPr>
                        <a:t>FedGen</a:t>
                      </a:r>
                      <a:r>
                        <a:rPr lang="en-IN" sz="1200" b="0" dirty="0">
                          <a:latin typeface="Times New Roman" panose="02020603050405020304" pitchFamily="18" charset="0"/>
                          <a:cs typeface="Times New Roman" panose="02020603050405020304" pitchFamily="18" charset="0"/>
                        </a:rPr>
                        <a:t>: Personalized Federated Learning with Data Generation for Enhanced Model Customization and Class Imbalance</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Proposes </a:t>
                      </a:r>
                      <a:r>
                        <a:rPr lang="en-IN" sz="1200" b="0" dirty="0" err="1">
                          <a:latin typeface="Times New Roman" panose="02020603050405020304" pitchFamily="18" charset="0"/>
                          <a:cs typeface="Times New Roman" panose="02020603050405020304" pitchFamily="18" charset="0"/>
                        </a:rPr>
                        <a:t>FedGen</a:t>
                      </a:r>
                      <a:r>
                        <a:rPr lang="en-IN" sz="1200" b="0" dirty="0">
                          <a:latin typeface="Times New Roman" panose="02020603050405020304" pitchFamily="18" charset="0"/>
                          <a:cs typeface="Times New Roman" panose="02020603050405020304" pitchFamily="18" charset="0"/>
                        </a:rPr>
                        <a:t>, a GAN-based personalized FL framework focused on data generation rather than task-model sharing.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Introduces AT-GAN with pseudo-augmentation and differentiable augmentation.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Generates data particularly for minority classes to reduce class imbalance.</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Evaluated on multiple real-world tabular datasets with imbalanced class distributions.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Experiments evaluate classification performance under federated and imbalanced settings.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Improved local-model performance by up to 11.92% in F1 score and 9.14% in MCC compared with existing methods.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Demonstrated the usefulness of federated generation for minority-class learning.</a:t>
                      </a: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pic>
        <p:nvPicPr>
          <p:cNvPr id="106" name="Google Shape;106;p20"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07" name="Google Shape;107;p20"/>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108" name="Google Shape;108;p20"/>
          <p:cNvGraphicFramePr/>
          <p:nvPr/>
        </p:nvGraphicFramePr>
        <p:xfrm>
          <a:off x="253188" y="774575"/>
          <a:ext cx="8637625" cy="4293150"/>
        </p:xfrm>
        <a:graphic>
          <a:graphicData uri="http://schemas.openxmlformats.org/drawingml/2006/table">
            <a:tbl>
              <a:tblPr>
                <a:noFill/>
                <a:tableStyleId>{69D8E879-E669-4775-889E-EFD9E0253DFF}</a:tableStyleId>
              </a:tblPr>
              <a:tblGrid>
                <a:gridCol w="1727525"/>
                <a:gridCol w="1727525"/>
                <a:gridCol w="172752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Qi Chang, </a:t>
                      </a:r>
                      <a:r>
                        <a:rPr lang="en-IN" sz="1200" b="0" dirty="0" err="1">
                          <a:latin typeface="Times New Roman" panose="02020603050405020304" pitchFamily="18" charset="0"/>
                          <a:cs typeface="Times New Roman" panose="02020603050405020304" pitchFamily="18" charset="0"/>
                        </a:rPr>
                        <a:t>Zhennan</a:t>
                      </a:r>
                      <a:r>
                        <a:rPr lang="en-IN" sz="1200" b="0" dirty="0">
                          <a:latin typeface="Times New Roman" panose="02020603050405020304" pitchFamily="18" charset="0"/>
                          <a:cs typeface="Times New Roman" panose="02020603050405020304" pitchFamily="18" charset="0"/>
                        </a:rPr>
                        <a:t> Yan, Mu Zhou, Hui Qu, </a:t>
                      </a:r>
                      <a:r>
                        <a:rPr lang="en-IN" sz="1200" b="0" dirty="0" err="1">
                          <a:latin typeface="Times New Roman" panose="02020603050405020304" pitchFamily="18" charset="0"/>
                          <a:cs typeface="Times New Roman" panose="02020603050405020304" pitchFamily="18" charset="0"/>
                        </a:rPr>
                        <a:t>Xiaoxiao</a:t>
                      </a:r>
                      <a:r>
                        <a:rPr lang="en-IN" sz="1200" b="0" dirty="0">
                          <a:latin typeface="Times New Roman" panose="02020603050405020304" pitchFamily="18" charset="0"/>
                          <a:cs typeface="Times New Roman" panose="02020603050405020304" pitchFamily="18" charset="0"/>
                        </a:rPr>
                        <a:t> He, Han Zhang, </a:t>
                      </a:r>
                      <a:r>
                        <a:rPr lang="en-IN" sz="1200" b="0" dirty="0" err="1">
                          <a:latin typeface="Times New Roman" panose="02020603050405020304" pitchFamily="18" charset="0"/>
                          <a:cs typeface="Times New Roman" panose="02020603050405020304" pitchFamily="18" charset="0"/>
                        </a:rPr>
                        <a:t>Lohendran</a:t>
                      </a:r>
                      <a:r>
                        <a:rPr lang="en-IN" sz="1200" b="0" dirty="0">
                          <a:latin typeface="Times New Roman" panose="02020603050405020304" pitchFamily="18" charset="0"/>
                          <a:cs typeface="Times New Roman" panose="02020603050405020304" pitchFamily="18" charset="0"/>
                        </a:rPr>
                        <a:t> Baskaran, Subhi </a:t>
                      </a:r>
                      <a:r>
                        <a:rPr lang="en-IN" sz="1200" b="0" dirty="0" err="1">
                          <a:latin typeface="Times New Roman" panose="02020603050405020304" pitchFamily="18" charset="0"/>
                          <a:cs typeface="Times New Roman" panose="02020603050405020304" pitchFamily="18" charset="0"/>
                        </a:rPr>
                        <a:t>Al’Aref</a:t>
                      </a:r>
                      <a:r>
                        <a:rPr lang="en-IN" sz="1200" b="0" dirty="0">
                          <a:latin typeface="Times New Roman" panose="02020603050405020304" pitchFamily="18" charset="0"/>
                          <a:cs typeface="Times New Roman" panose="02020603050405020304" pitchFamily="18" charset="0"/>
                        </a:rPr>
                        <a:t>, </a:t>
                      </a:r>
                      <a:r>
                        <a:rPr lang="en-IN" sz="1200" b="0" dirty="0" err="1">
                          <a:latin typeface="Times New Roman" panose="02020603050405020304" pitchFamily="18" charset="0"/>
                          <a:cs typeface="Times New Roman" panose="02020603050405020304" pitchFamily="18" charset="0"/>
                        </a:rPr>
                        <a:t>Hongsheng</a:t>
                      </a:r>
                      <a:r>
                        <a:rPr lang="en-IN" sz="1200" b="0" dirty="0">
                          <a:latin typeface="Times New Roman" panose="02020603050405020304" pitchFamily="18" charset="0"/>
                          <a:cs typeface="Times New Roman" panose="02020603050405020304" pitchFamily="18" charset="0"/>
                        </a:rPr>
                        <a:t> Li, </a:t>
                      </a:r>
                      <a:r>
                        <a:rPr lang="en-IN" sz="1200" b="0" dirty="0" err="1">
                          <a:latin typeface="Times New Roman" panose="02020603050405020304" pitchFamily="18" charset="0"/>
                          <a:cs typeface="Times New Roman" panose="02020603050405020304" pitchFamily="18" charset="0"/>
                        </a:rPr>
                        <a:t>Shaoting</a:t>
                      </a:r>
                      <a:r>
                        <a:rPr lang="en-IN" sz="1200" b="0" dirty="0">
                          <a:latin typeface="Times New Roman" panose="02020603050405020304" pitchFamily="18" charset="0"/>
                          <a:cs typeface="Times New Roman" panose="02020603050405020304" pitchFamily="18" charset="0"/>
                        </a:rPr>
                        <a:t> Zhang, Dimitris N. Metaxas (2023)</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Mining Multi-</a:t>
                      </a:r>
                      <a:r>
                        <a:rPr lang="en-IN" sz="1200" b="0" dirty="0" err="1">
                          <a:latin typeface="Times New Roman" panose="02020603050405020304" pitchFamily="18" charset="0"/>
                          <a:cs typeface="Times New Roman" panose="02020603050405020304" pitchFamily="18" charset="0"/>
                        </a:rPr>
                        <a:t>Center</a:t>
                      </a:r>
                      <a:r>
                        <a:rPr lang="en-IN" sz="1200" b="0" dirty="0">
                          <a:latin typeface="Times New Roman" panose="02020603050405020304" pitchFamily="18" charset="0"/>
                          <a:cs typeface="Times New Roman" panose="02020603050405020304" pitchFamily="18" charset="0"/>
                        </a:rPr>
                        <a:t> Heterogeneous Medical Data with Distributed Synthetic Learning</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Proposes Distributed Synthetic Learning (DSL) using a central generator and distributed discriminators.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GAN-based synthetic learning to learn from multiple medical </a:t>
                      </a:r>
                      <a:r>
                        <a:rPr lang="en-IN" sz="1200" b="0" dirty="0" err="1">
                          <a:latin typeface="Times New Roman" panose="02020603050405020304" pitchFamily="18" charset="0"/>
                          <a:cs typeface="Times New Roman" panose="02020603050405020304" pitchFamily="18" charset="0"/>
                        </a:rPr>
                        <a:t>centers</a:t>
                      </a:r>
                      <a:r>
                        <a:rPr lang="en-IN" sz="1200" b="0" dirty="0">
                          <a:latin typeface="Times New Roman" panose="02020603050405020304" pitchFamily="18" charset="0"/>
                          <a:cs typeface="Times New Roman" panose="02020603050405020304" pitchFamily="18" charset="0"/>
                        </a:rPr>
                        <a:t> without sharing private images.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Supports multi-modality learning, missing-modality completion, and continual learning.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Synthetic images are used in downstream medical segmentation/classification.</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Cardiac CTA: WHS, CAT08, ASOCA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Brain MRI: </a:t>
                      </a:r>
                      <a:r>
                        <a:rPr lang="en-IN" sz="1200" b="0" dirty="0" err="1">
                          <a:latin typeface="Times New Roman" panose="02020603050405020304" pitchFamily="18" charset="0"/>
                          <a:cs typeface="Times New Roman" panose="02020603050405020304" pitchFamily="18" charset="0"/>
                        </a:rPr>
                        <a:t>BraTS</a:t>
                      </a:r>
                      <a:r>
                        <a:rPr lang="en-IN" sz="1200" b="0" dirty="0">
                          <a:latin typeface="Times New Roman" panose="02020603050405020304" pitchFamily="18" charset="0"/>
                          <a:cs typeface="Times New Roman" panose="02020603050405020304" pitchFamily="18" charset="0"/>
                        </a:rPr>
                        <a:t> 2018 and multi-modality datasets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Histopathology: </a:t>
                      </a:r>
                      <a:r>
                        <a:rPr lang="en-IN" sz="1200" b="0" dirty="0" err="1">
                          <a:latin typeface="Times New Roman" panose="02020603050405020304" pitchFamily="18" charset="0"/>
                          <a:cs typeface="Times New Roman" panose="02020603050405020304" pitchFamily="18" charset="0"/>
                        </a:rPr>
                        <a:t>MoNuSeg</a:t>
                      </a:r>
                      <a:r>
                        <a:rPr lang="en-IN" sz="1200" b="0" dirty="0">
                          <a:latin typeface="Times New Roman" panose="02020603050405020304" pitchFamily="18" charset="0"/>
                          <a:cs typeface="Times New Roman" panose="02020603050405020304" pitchFamily="18" charset="0"/>
                        </a:rPr>
                        <a: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Data come from heterogeneous </a:t>
                      </a:r>
                      <a:r>
                        <a:rPr lang="en-IN" sz="1200" b="0" dirty="0" err="1">
                          <a:latin typeface="Times New Roman" panose="02020603050405020304" pitchFamily="18" charset="0"/>
                          <a:cs typeface="Times New Roman" panose="02020603050405020304" pitchFamily="18" charset="0"/>
                        </a:rPr>
                        <a:t>centers</a:t>
                      </a:r>
                      <a:r>
                        <a:rPr lang="en-IN" sz="1200" b="0" dirty="0">
                          <a:latin typeface="Times New Roman" panose="02020603050405020304" pitchFamily="18" charset="0"/>
                          <a:cs typeface="Times New Roman" panose="02020603050405020304" pitchFamily="18" charset="0"/>
                        </a:rPr>
                        <a:t> and acquisition settings.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DSL produced higher-quality synthetic medical images than several federated/distributed GAN baselines.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In the cardiac CTA experiment, DSL achieved Dice = 0.864 vs 0.709 for FLGAN.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Also showed improvements of 55% and 8% in reported heterogeneous/temporal segmentation settings.</a:t>
                      </a: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pic>
        <p:nvPicPr>
          <p:cNvPr id="113" name="Google Shape;113;p21"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14" name="Google Shape;114;p21"/>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115" name="Google Shape;115;p21"/>
          <p:cNvGraphicFramePr/>
          <p:nvPr/>
        </p:nvGraphicFramePr>
        <p:xfrm>
          <a:off x="253188" y="774575"/>
          <a:ext cx="8637625" cy="4109425"/>
        </p:xfrm>
        <a:graphic>
          <a:graphicData uri="http://schemas.openxmlformats.org/drawingml/2006/table">
            <a:tbl>
              <a:tblPr>
                <a:noFill/>
                <a:tableStyleId>{69D8E879-E669-4775-889E-EFD9E0253DFF}</a:tableStyleId>
              </a:tblPr>
              <a:tblGrid>
                <a:gridCol w="1727525"/>
                <a:gridCol w="1727525"/>
                <a:gridCol w="172752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spcBef>
                          <a:spcPts val="0"/>
                        </a:spcBef>
                        <a:spcAft>
                          <a:spcPts val="0"/>
                        </a:spcAft>
                        <a:buNone/>
                      </a:pPr>
                      <a:r>
                        <a:rPr lang="en-IN" sz="1200" b="0" dirty="0" err="1">
                          <a:latin typeface="Times New Roman" panose="02020603050405020304" pitchFamily="18" charset="0"/>
                          <a:cs typeface="Times New Roman" panose="02020603050405020304" pitchFamily="18" charset="0"/>
                        </a:rPr>
                        <a:t>Jinbao</a:t>
                      </a:r>
                      <a:r>
                        <a:rPr lang="en-IN" sz="1200" b="0" dirty="0">
                          <a:latin typeface="Times New Roman" panose="02020603050405020304" pitchFamily="18" charset="0"/>
                          <a:cs typeface="Times New Roman" panose="02020603050405020304" pitchFamily="18" charset="0"/>
                        </a:rPr>
                        <a:t> Wang, </a:t>
                      </a:r>
                      <a:r>
                        <a:rPr lang="en-IN" sz="1200" b="0" dirty="0" err="1">
                          <a:latin typeface="Times New Roman" panose="02020603050405020304" pitchFamily="18" charset="0"/>
                          <a:cs typeface="Times New Roman" panose="02020603050405020304" pitchFamily="18" charset="0"/>
                        </a:rPr>
                        <a:t>Guoyang</a:t>
                      </a:r>
                      <a:r>
                        <a:rPr lang="en-IN" sz="1200" b="0" dirty="0">
                          <a:latin typeface="Times New Roman" panose="02020603050405020304" pitchFamily="18" charset="0"/>
                          <a:cs typeface="Times New Roman" panose="02020603050405020304" pitchFamily="18" charset="0"/>
                        </a:rPr>
                        <a:t> Xie, Yawen Huang, Jiayi Lyu, Feng Zheng, </a:t>
                      </a:r>
                      <a:r>
                        <a:rPr lang="en-IN" sz="1200" b="0" dirty="0" err="1">
                          <a:latin typeface="Times New Roman" panose="02020603050405020304" pitchFamily="18" charset="0"/>
                          <a:cs typeface="Times New Roman" panose="02020603050405020304" pitchFamily="18" charset="0"/>
                        </a:rPr>
                        <a:t>Yefeng</a:t>
                      </a:r>
                      <a:r>
                        <a:rPr lang="en-IN" sz="1200" b="0" dirty="0">
                          <a:latin typeface="Times New Roman" panose="02020603050405020304" pitchFamily="18" charset="0"/>
                          <a:cs typeface="Times New Roman" panose="02020603050405020304" pitchFamily="18" charset="0"/>
                        </a:rPr>
                        <a:t> Zheng, </a:t>
                      </a:r>
                      <a:r>
                        <a:rPr lang="en-IN" sz="1200" b="0" dirty="0" err="1">
                          <a:latin typeface="Times New Roman" panose="02020603050405020304" pitchFamily="18" charset="0"/>
                          <a:cs typeface="Times New Roman" panose="02020603050405020304" pitchFamily="18" charset="0"/>
                        </a:rPr>
                        <a:t>Yaochu</a:t>
                      </a:r>
                      <a:r>
                        <a:rPr lang="en-IN" sz="1200" b="0" dirty="0">
                          <a:latin typeface="Times New Roman" panose="02020603050405020304" pitchFamily="18" charset="0"/>
                          <a:cs typeface="Times New Roman" panose="02020603050405020304" pitchFamily="18" charset="0"/>
                        </a:rPr>
                        <a:t> Jin (2023)</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err="1">
                          <a:latin typeface="Times New Roman" panose="02020603050405020304" pitchFamily="18" charset="0"/>
                          <a:cs typeface="Times New Roman" panose="02020603050405020304" pitchFamily="18" charset="0"/>
                        </a:rPr>
                        <a:t>FedMed</a:t>
                      </a:r>
                      <a:r>
                        <a:rPr lang="en-IN" sz="1200" b="0" dirty="0">
                          <a:latin typeface="Times New Roman" panose="02020603050405020304" pitchFamily="18" charset="0"/>
                          <a:cs typeface="Times New Roman" panose="02020603050405020304" pitchFamily="18" charset="0"/>
                        </a:rPr>
                        <a:t>-GAN: Federated Domain Translation on Unsupervised Cross-Modality Brain Image Synthesis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 Develops a federated framework for medical image-to-image synthesis.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models such as </a:t>
                      </a:r>
                      <a:r>
                        <a:rPr lang="en-IN" sz="1200" b="0" dirty="0" err="1">
                          <a:latin typeface="Times New Roman" panose="02020603050405020304" pitchFamily="18" charset="0"/>
                          <a:cs typeface="Times New Roman" panose="02020603050405020304" pitchFamily="18" charset="0"/>
                        </a:rPr>
                        <a:t>CycleGAN</a:t>
                      </a:r>
                      <a:r>
                        <a:rPr lang="en-IN" sz="1200" b="0" dirty="0">
                          <a:latin typeface="Times New Roman" panose="02020603050405020304" pitchFamily="18" charset="0"/>
                          <a:cs typeface="Times New Roman" panose="02020603050405020304" pitchFamily="18" charset="0"/>
                        </a:rPr>
                        <a:t>, MUNIT and UNIT with federated aggregation of generator/edge-network parameters.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a:t>
                      </a:r>
                      <a:r>
                        <a:rPr lang="en-IN" sz="1200" b="0" dirty="0" err="1">
                          <a:latin typeface="Times New Roman" panose="02020603050405020304" pitchFamily="18" charset="0"/>
                          <a:cs typeface="Times New Roman" panose="02020603050405020304" pitchFamily="18" charset="0"/>
                        </a:rPr>
                        <a:t>FedAvg</a:t>
                      </a:r>
                      <a:r>
                        <a:rPr lang="en-IN" sz="1200" b="0" dirty="0">
                          <a:latin typeface="Times New Roman" panose="02020603050405020304" pitchFamily="18" charset="0"/>
                          <a:cs typeface="Times New Roman" panose="02020603050405020304" pitchFamily="18" charset="0"/>
                        </a:rPr>
                        <a:t> and differential-privacy gradient mechanisms.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Specifically handles unpaired, heterogeneous and long-tail client distributions.</a:t>
                      </a:r>
                      <a:endParaRPr sz="1200" b="0" dirty="0">
                        <a:solidFill>
                          <a:schemeClr val="dk1"/>
                        </a:solidFill>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IXI: T1, T2 and PD brain MRI data.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BraTS2019: multimodal brain MRI.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Experiments use different client numbers and highly uneven data distributions. </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Generated clear and realistic cross-modality brain images under federated settings.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Performance remained relatively stable under highly unequal client distributions.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The proposed edge-guided </a:t>
                      </a:r>
                      <a:r>
                        <a:rPr lang="en-IN" sz="1200" b="0" dirty="0" err="1">
                          <a:latin typeface="Times New Roman" panose="02020603050405020304" pitchFamily="18" charset="0"/>
                          <a:cs typeface="Times New Roman" panose="02020603050405020304" pitchFamily="18" charset="0"/>
                        </a:rPr>
                        <a:t>FedMed</a:t>
                      </a:r>
                      <a:r>
                        <a:rPr lang="en-IN" sz="1200" b="0" dirty="0">
                          <a:latin typeface="Times New Roman" panose="02020603050405020304" pitchFamily="18" charset="0"/>
                          <a:cs typeface="Times New Roman" panose="02020603050405020304" pitchFamily="18" charset="0"/>
                        </a:rPr>
                        <a:t>-GAN improved generation quality compared with baseline federated GAN configurations. </a:t>
                      </a:r>
                      <a:endParaRPr sz="1200" b="0" dirty="0">
                        <a:latin typeface="Times New Roman" panose="02020603050405020304" pitchFamily="18" charset="0"/>
                        <a:cs typeface="Times New Roman" panose="02020603050405020304" pitchFamily="18" charset="0"/>
                      </a:endParaRPr>
                    </a:p>
                    <a:p>
                      <a:pPr marL="0" lvl="0" indent="0" algn="l" rtl="0">
                        <a:spcBef>
                          <a:spcPts val="0"/>
                        </a:spcBef>
                        <a:spcAft>
                          <a:spcPts val="0"/>
                        </a:spcAft>
                        <a:buNone/>
                      </a:pP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pic>
        <p:nvPicPr>
          <p:cNvPr id="120" name="Google Shape;120;p22"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21" name="Google Shape;121;p22"/>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122" name="Google Shape;122;p22"/>
          <p:cNvGraphicFramePr/>
          <p:nvPr/>
        </p:nvGraphicFramePr>
        <p:xfrm>
          <a:off x="253188" y="774575"/>
          <a:ext cx="8637625" cy="4109425"/>
        </p:xfrm>
        <a:graphic>
          <a:graphicData uri="http://schemas.openxmlformats.org/drawingml/2006/table">
            <a:tbl>
              <a:tblPr>
                <a:noFill/>
                <a:tableStyleId>{69D8E879-E669-4775-889E-EFD9E0253DFF}</a:tableStyleId>
              </a:tblPr>
              <a:tblGrid>
                <a:gridCol w="1727525"/>
                <a:gridCol w="1727525"/>
                <a:gridCol w="1727525"/>
                <a:gridCol w="1727525"/>
                <a:gridCol w="1727525"/>
              </a:tblGrid>
              <a:tr h="452700">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AUTHORS</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spcBef>
                          <a:spcPts val="0"/>
                        </a:spcBef>
                        <a:spcAft>
                          <a:spcPts val="0"/>
                        </a:spcAft>
                        <a:buNone/>
                      </a:pPr>
                      <a:r>
                        <a:rPr lang="en-IN" sz="1200" b="0" dirty="0" err="1">
                          <a:latin typeface="Times New Roman" panose="02020603050405020304" pitchFamily="18" charset="0"/>
                          <a:cs typeface="Times New Roman" panose="02020603050405020304" pitchFamily="18" charset="0"/>
                        </a:rPr>
                        <a:t>Ruinan</a:t>
                      </a:r>
                      <a:r>
                        <a:rPr lang="en-IN" sz="1200" b="0" dirty="0">
                          <a:latin typeface="Times New Roman" panose="02020603050405020304" pitchFamily="18" charset="0"/>
                          <a:cs typeface="Times New Roman" panose="02020603050405020304" pitchFamily="18" charset="0"/>
                        </a:rPr>
                        <a:t> Jin, </a:t>
                      </a:r>
                      <a:r>
                        <a:rPr lang="en-IN" sz="1200" b="0" dirty="0" err="1">
                          <a:latin typeface="Times New Roman" panose="02020603050405020304" pitchFamily="18" charset="0"/>
                          <a:cs typeface="Times New Roman" panose="02020603050405020304" pitchFamily="18" charset="0"/>
                        </a:rPr>
                        <a:t>Xiaoxiao</a:t>
                      </a:r>
                      <a:r>
                        <a:rPr lang="en-IN" sz="1200" b="0" dirty="0">
                          <a:latin typeface="Times New Roman" panose="02020603050405020304" pitchFamily="18" charset="0"/>
                          <a:cs typeface="Times New Roman" panose="02020603050405020304" pitchFamily="18" charset="0"/>
                        </a:rPr>
                        <a:t> Li (2023)</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Backdoor Attack and </a:t>
                      </a:r>
                      <a:r>
                        <a:rPr lang="en-IN" sz="1200" b="0" dirty="0" err="1">
                          <a:latin typeface="Times New Roman" panose="02020603050405020304" pitchFamily="18" charset="0"/>
                          <a:cs typeface="Times New Roman" panose="02020603050405020304" pitchFamily="18" charset="0"/>
                        </a:rPr>
                        <a:t>Defense</a:t>
                      </a:r>
                      <a:r>
                        <a:rPr lang="en-IN" sz="1200" b="0" dirty="0">
                          <a:latin typeface="Times New Roman" panose="02020603050405020304" pitchFamily="18" charset="0"/>
                          <a:cs typeface="Times New Roman" panose="02020603050405020304" pitchFamily="18" charset="0"/>
                        </a:rPr>
                        <a:t> in Federated Generative Adversarial Network-based Medical Image Synthesis</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lnSpc>
                          <a:spcPct val="100000"/>
                        </a:lnSpc>
                        <a:spcBef>
                          <a:spcPts val="1200"/>
                        </a:spcBef>
                        <a:spcAft>
                          <a:spcPts val="0"/>
                        </a:spcAft>
                        <a:buNone/>
                      </a:pPr>
                      <a:r>
                        <a:rPr lang="en-IN" sz="1200" b="0" dirty="0">
                          <a:latin typeface="Times New Roman" panose="02020603050405020304" pitchFamily="18" charset="0"/>
                          <a:cs typeface="Times New Roman" panose="02020603050405020304" pitchFamily="18" charset="0"/>
                        </a:rPr>
                        <a:t>• Develops a conditional </a:t>
                      </a:r>
                      <a:r>
                        <a:rPr lang="en-IN" sz="1200" b="0" dirty="0" err="1">
                          <a:latin typeface="Times New Roman" panose="02020603050405020304" pitchFamily="18" charset="0"/>
                          <a:cs typeface="Times New Roman" panose="02020603050405020304" pitchFamily="18" charset="0"/>
                        </a:rPr>
                        <a:t>FedGAN</a:t>
                      </a:r>
                      <a:r>
                        <a:rPr lang="en-IN" sz="1200" b="0" dirty="0">
                          <a:latin typeface="Times New Roman" panose="02020603050405020304" pitchFamily="18" charset="0"/>
                          <a:cs typeface="Times New Roman" panose="02020603050405020304" pitchFamily="18" charset="0"/>
                        </a:rPr>
                        <a:t> pipeline for generating </a:t>
                      </a:r>
                      <a:r>
                        <a:rPr lang="en-IN" sz="1200" b="0" dirty="0" err="1">
                          <a:latin typeface="Times New Roman" panose="02020603050405020304" pitchFamily="18" charset="0"/>
                          <a:cs typeface="Times New Roman" panose="02020603050405020304" pitchFamily="18" charset="0"/>
                        </a:rPr>
                        <a:t>labeled</a:t>
                      </a:r>
                      <a:r>
                        <a:rPr lang="en-IN" sz="1200" b="0" dirty="0">
                          <a:latin typeface="Times New Roman" panose="02020603050405020304" pitchFamily="18" charset="0"/>
                          <a:cs typeface="Times New Roman" panose="02020603050405020304" pitchFamily="18" charset="0"/>
                        </a:rPr>
                        <a:t> medical images.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Investigates backdoor/poisoning attacks against federated GAN training.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Proposes </a:t>
                      </a:r>
                      <a:r>
                        <a:rPr lang="en-IN" sz="1200" b="0" dirty="0" err="1">
                          <a:latin typeface="Times New Roman" panose="02020603050405020304" pitchFamily="18" charset="0"/>
                          <a:cs typeface="Times New Roman" panose="02020603050405020304" pitchFamily="18" charset="0"/>
                        </a:rPr>
                        <a:t>FedDetect</a:t>
                      </a:r>
                      <a:r>
                        <a:rPr lang="en-IN" sz="1200" b="0" dirty="0">
                          <a:latin typeface="Times New Roman" panose="02020603050405020304" pitchFamily="18" charset="0"/>
                          <a:cs typeface="Times New Roman" panose="02020603050405020304" pitchFamily="18" charset="0"/>
                        </a:rPr>
                        <a:t>, which detects malicious clients using abnormal training-loss </a:t>
                      </a:r>
                      <a:r>
                        <a:rPr lang="en-IN" sz="1200" b="0" dirty="0" err="1">
                          <a:latin typeface="Times New Roman" panose="02020603050405020304" pitchFamily="18" charset="0"/>
                          <a:cs typeface="Times New Roman" panose="02020603050405020304" pitchFamily="18" charset="0"/>
                        </a:rPr>
                        <a:t>behavior</a:t>
                      </a:r>
                      <a:r>
                        <a:rPr lang="en-IN" sz="1200" b="0" dirty="0">
                          <a:latin typeface="Times New Roman" panose="02020603050405020304" pitchFamily="18" charset="0"/>
                          <a:cs typeface="Times New Roman" panose="02020603050405020304" pitchFamily="18" charset="0"/>
                        </a:rPr>
                        <a: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Evaluates the generated images for downstream diagnostic data augmentation.</a:t>
                      </a:r>
                      <a:r>
                        <a:rPr lang="en-GB" sz="1200" b="0" dirty="0">
                          <a:solidFill>
                            <a:schemeClr val="dk1"/>
                          </a:solidFill>
                          <a:latin typeface="Times New Roman" panose="02020603050405020304" pitchFamily="18" charset="0"/>
                          <a:cs typeface="Times New Roman" panose="02020603050405020304" pitchFamily="18" charset="0"/>
                        </a:rPr>
                        <a:t>.</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Chest X-ray (CXR) dataset.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ISIC </a:t>
                      </a:r>
                      <a:r>
                        <a:rPr lang="en-IN" sz="1200" b="0" dirty="0" err="1">
                          <a:latin typeface="Times New Roman" panose="02020603050405020304" pitchFamily="18" charset="0"/>
                          <a:cs typeface="Times New Roman" panose="02020603050405020304" pitchFamily="18" charset="0"/>
                        </a:rPr>
                        <a:t>dermoscopic</a:t>
                      </a:r>
                      <a:r>
                        <a:rPr lang="en-IN" sz="1200" b="0" dirty="0">
                          <a:latin typeface="Times New Roman" panose="02020603050405020304" pitchFamily="18" charset="0"/>
                          <a:cs typeface="Times New Roman" panose="02020603050405020304" pitchFamily="18" charset="0"/>
                        </a:rPr>
                        <a:t>/skin-lesion dataset.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Two public medical datasets with different imaging modalities.</a:t>
                      </a:r>
                      <a:endParaRPr sz="1200" b="0" dirty="0">
                        <a:solidFill>
                          <a:schemeClr val="dk1"/>
                        </a:solidFill>
                        <a:latin typeface="Times New Roman" panose="02020603050405020304" pitchFamily="18" charset="0"/>
                        <a:cs typeface="Times New Roman" panose="02020603050405020304" pitchFamily="18" charset="0"/>
                      </a:endParaRPr>
                    </a:p>
                    <a:p>
                      <a:pPr marL="0" lvl="0" indent="0" algn="l" rtl="0">
                        <a:spcBef>
                          <a:spcPts val="0"/>
                        </a:spcBef>
                        <a:spcAft>
                          <a:spcPts val="0"/>
                        </a:spcAft>
                        <a:buClr>
                          <a:schemeClr val="dk1"/>
                        </a:buClr>
                        <a:buSzPts val="1100"/>
                        <a:buFont typeface="Arial" panose="020B0604020202020204"/>
                        <a:buNone/>
                      </a:pPr>
                      <a:endParaRPr sz="1200" b="0" dirty="0">
                        <a:latin typeface="Times New Roman" panose="02020603050405020304" pitchFamily="18" charset="0"/>
                        <a:cs typeface="Times New Roman" panose="02020603050405020304" pitchFamily="18" charset="0"/>
                      </a:endParaRPr>
                    </a:p>
                    <a:p>
                      <a:pPr marL="0" lvl="0" indent="0" algn="l" rtl="0">
                        <a:spcBef>
                          <a:spcPts val="0"/>
                        </a:spcBef>
                        <a:spcAft>
                          <a:spcPts val="0"/>
                        </a:spcAft>
                        <a:buNone/>
                      </a:pP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lnSpc>
                          <a:spcPct val="100000"/>
                        </a:lnSpc>
                        <a:spcBef>
                          <a:spcPts val="120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Backdoor attacks substantially reduced synthetic-image fidelity and medical utility.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a:t>
                      </a:r>
                      <a:r>
                        <a:rPr lang="en-IN" sz="1200" b="0" dirty="0" err="1">
                          <a:latin typeface="Times New Roman" panose="02020603050405020304" pitchFamily="18" charset="0"/>
                          <a:cs typeface="Times New Roman" panose="02020603050405020304" pitchFamily="18" charset="0"/>
                        </a:rPr>
                        <a:t>FedDetect</a:t>
                      </a:r>
                      <a:r>
                        <a:rPr lang="en-IN" sz="1200" b="0" dirty="0">
                          <a:latin typeface="Times New Roman" panose="02020603050405020304" pitchFamily="18" charset="0"/>
                          <a:cs typeface="Times New Roman" panose="02020603050405020304" pitchFamily="18" charset="0"/>
                        </a:rPr>
                        <a:t> successfully identified malicious clients and restored the quality of generated medical data.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a:t>
                      </a:r>
                      <a:r>
                        <a:rPr lang="en-IN" sz="1200" b="0" dirty="0" err="1">
                          <a:latin typeface="Times New Roman" panose="02020603050405020304" pitchFamily="18" charset="0"/>
                          <a:cs typeface="Times New Roman" panose="02020603050405020304" pitchFamily="18" charset="0"/>
                        </a:rPr>
                        <a:t>FedGAN</a:t>
                      </a:r>
                      <a:r>
                        <a:rPr lang="en-IN" sz="1200" b="0" dirty="0">
                          <a:latin typeface="Times New Roman" panose="02020603050405020304" pitchFamily="18" charset="0"/>
                          <a:cs typeface="Times New Roman" panose="02020603050405020304" pitchFamily="18" charset="0"/>
                        </a:rPr>
                        <a:t>-generated images improved downstream diagnostic-model training when the generator was not compromised. </a:t>
                      </a: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pic>
        <p:nvPicPr>
          <p:cNvPr id="127" name="Google Shape;127;p23"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28" name="Google Shape;128;p23"/>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129" name="Google Shape;129;p23"/>
          <p:cNvGraphicFramePr/>
          <p:nvPr/>
        </p:nvGraphicFramePr>
        <p:xfrm>
          <a:off x="239825" y="921700"/>
          <a:ext cx="8637625" cy="4109425"/>
        </p:xfrm>
        <a:graphic>
          <a:graphicData uri="http://schemas.openxmlformats.org/drawingml/2006/table">
            <a:tbl>
              <a:tblPr>
                <a:noFill/>
                <a:tableStyleId>{69D8E879-E669-4775-889E-EFD9E0253DFF}</a:tableStyleId>
              </a:tblPr>
              <a:tblGrid>
                <a:gridCol w="1727525"/>
                <a:gridCol w="1727525"/>
                <a:gridCol w="172752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lnSpc>
                          <a:spcPct val="100000"/>
                        </a:lnSpc>
                        <a:spcBef>
                          <a:spcPts val="1200"/>
                        </a:spcBef>
                        <a:spcAft>
                          <a:spcPts val="1200"/>
                        </a:spcAft>
                        <a:buNone/>
                      </a:pPr>
                      <a:r>
                        <a:rPr lang="en-IN" sz="1200" b="0" dirty="0">
                          <a:latin typeface="Times New Roman" panose="02020603050405020304" pitchFamily="18" charset="0"/>
                          <a:cs typeface="Times New Roman" panose="02020603050405020304" pitchFamily="18" charset="0"/>
                        </a:rPr>
                        <a:t>Xian Shuai, Yulin Shen, </a:t>
                      </a:r>
                      <a:r>
                        <a:rPr lang="en-IN" sz="1200" b="0" dirty="0" err="1">
                          <a:latin typeface="Times New Roman" panose="02020603050405020304" pitchFamily="18" charset="0"/>
                          <a:cs typeface="Times New Roman" panose="02020603050405020304" pitchFamily="18" charset="0"/>
                        </a:rPr>
                        <a:t>Siyang</a:t>
                      </a:r>
                      <a:r>
                        <a:rPr lang="en-IN" sz="1200" b="0" dirty="0">
                          <a:latin typeface="Times New Roman" panose="02020603050405020304" pitchFamily="18" charset="0"/>
                          <a:cs typeface="Times New Roman" panose="02020603050405020304" pitchFamily="18" charset="0"/>
                        </a:rPr>
                        <a:t> Jiang, </a:t>
                      </a:r>
                      <a:r>
                        <a:rPr lang="en-IN" sz="1200" b="0" dirty="0" err="1">
                          <a:latin typeface="Times New Roman" panose="02020603050405020304" pitchFamily="18" charset="0"/>
                          <a:cs typeface="Times New Roman" panose="02020603050405020304" pitchFamily="18" charset="0"/>
                        </a:rPr>
                        <a:t>Zhihe</a:t>
                      </a:r>
                      <a:r>
                        <a:rPr lang="en-IN" sz="1200" b="0" dirty="0">
                          <a:latin typeface="Times New Roman" panose="02020603050405020304" pitchFamily="18" charset="0"/>
                          <a:cs typeface="Times New Roman" panose="02020603050405020304" pitchFamily="18" charset="0"/>
                        </a:rPr>
                        <a:t> Zhao, Zhenyu Yan, Guoliang Xing (2022)</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err="1">
                          <a:latin typeface="Times New Roman" panose="02020603050405020304" pitchFamily="18" charset="0"/>
                          <a:cs typeface="Times New Roman" panose="02020603050405020304" pitchFamily="18" charset="0"/>
                        </a:rPr>
                        <a:t>BalanceFL</a:t>
                      </a:r>
                      <a:r>
                        <a:rPr lang="en-IN" sz="1200" b="0" dirty="0">
                          <a:latin typeface="Times New Roman" panose="02020603050405020304" pitchFamily="18" charset="0"/>
                          <a:cs typeface="Times New Roman" panose="02020603050405020304" pitchFamily="18" charset="0"/>
                        </a:rPr>
                        <a:t>: Addressing Class Imbalance in Long-Tail Federated Learning</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Proposes a federated framework specifically for long-tailed and imbalanced data.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knowledge inheritance to address missing classes across clients.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inter-class balancing to improve learning of minority classes.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Designed to handle both global and local imbalance.</a:t>
                      </a:r>
                      <a:endParaRPr sz="1200" b="0" dirty="0">
                        <a:solidFill>
                          <a:schemeClr val="dk1"/>
                        </a:solidFill>
                        <a:latin typeface="Times New Roman" panose="02020603050405020304" pitchFamily="18" charset="0"/>
                        <a:ea typeface="Roboto"/>
                        <a:cs typeface="Times New Roman" panose="02020603050405020304" pitchFamily="18" charset="0"/>
                        <a:sym typeface="Roboto"/>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CIFAR10-LT: 12,406 training images, 10 classes, imbalance ratio 100.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Speech Commands-LT: 23,463 training samples, 35 classes, imbalance ratio 100.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IMU action-recognition dataset: 6,137 training samples, 8 classes. </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Improved overall accuracy over </a:t>
                      </a:r>
                      <a:r>
                        <a:rPr lang="en-IN" sz="1200" b="0" dirty="0" err="1">
                          <a:latin typeface="Times New Roman" panose="02020603050405020304" pitchFamily="18" charset="0"/>
                          <a:cs typeface="Times New Roman" panose="02020603050405020304" pitchFamily="18" charset="0"/>
                        </a:rPr>
                        <a:t>FedAvg</a:t>
                      </a:r>
                      <a:r>
                        <a:rPr lang="en-IN" sz="1200" b="0" dirty="0">
                          <a:latin typeface="Times New Roman" panose="02020603050405020304" pitchFamily="18" charset="0"/>
                          <a:cs typeface="Times New Roman" panose="02020603050405020304" pitchFamily="18" charset="0"/>
                        </a:rPr>
                        <a:t> by up to 56.7%, 39.5%, and 18.5% on the three datasets respectively.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On CIFAR10-LT, tail-class accuracy improved dramatically compared with </a:t>
                      </a:r>
                      <a:r>
                        <a:rPr lang="en-IN" sz="1200" b="0" dirty="0" err="1">
                          <a:latin typeface="Times New Roman" panose="02020603050405020304" pitchFamily="18" charset="0"/>
                          <a:cs typeface="Times New Roman" panose="02020603050405020304" pitchFamily="18" charset="0"/>
                        </a:rPr>
                        <a:t>FedAvg</a:t>
                      </a:r>
                      <a:r>
                        <a:rPr lang="en-IN" sz="1200" b="0" dirty="0">
                          <a:latin typeface="Times New Roman" panose="02020603050405020304" pitchFamily="18" charset="0"/>
                          <a:cs typeface="Times New Roman" panose="02020603050405020304" pitchFamily="18" charset="0"/>
                        </a:rPr>
                        <a:t>. </a:t>
                      </a: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pic>
        <p:nvPicPr>
          <p:cNvPr id="134" name="Google Shape;134;p24"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35" name="Google Shape;135;p24"/>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graphicFrame>
        <p:nvGraphicFramePr>
          <p:cNvPr id="136" name="Google Shape;136;p24"/>
          <p:cNvGraphicFramePr/>
          <p:nvPr/>
        </p:nvGraphicFramePr>
        <p:xfrm>
          <a:off x="239825" y="921700"/>
          <a:ext cx="8637625" cy="4109425"/>
        </p:xfrm>
        <a:graphic>
          <a:graphicData uri="http://schemas.openxmlformats.org/drawingml/2006/table">
            <a:tbl>
              <a:tblPr>
                <a:noFill/>
                <a:tableStyleId>{69D8E879-E669-4775-889E-EFD9E0253DFF}</a:tableStyleId>
              </a:tblPr>
              <a:tblGrid>
                <a:gridCol w="1727525"/>
                <a:gridCol w="1727525"/>
                <a:gridCol w="1727525"/>
                <a:gridCol w="1727525"/>
                <a:gridCol w="1727525"/>
              </a:tblGrid>
              <a:tr h="452700">
                <a:tc>
                  <a:txBody>
                    <a:bodyPr/>
                    <a:lstStyle/>
                    <a:p>
                      <a:pPr marL="0" lvl="0" indent="0" algn="l" rtl="0">
                        <a:spcBef>
                          <a:spcPts val="0"/>
                        </a:spcBef>
                        <a:spcAft>
                          <a:spcPts val="0"/>
                        </a:spcAft>
                        <a:buNone/>
                      </a:pPr>
                      <a:r>
                        <a:rPr lang="en-GB" b="1" dirty="0">
                          <a:latin typeface="Times New Roman" panose="02020603050405020304" pitchFamily="18" charset="0"/>
                          <a:cs typeface="Times New Roman" panose="02020603050405020304" pitchFamily="18" charset="0"/>
                        </a:rPr>
                        <a:t>AUTHORS</a:t>
                      </a:r>
                      <a:endParaRPr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TITLE</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METHODOLOGY</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DATASET</a:t>
                      </a:r>
                      <a:endParaRPr b="1">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GB" b="1">
                          <a:latin typeface="Times New Roman" panose="02020603050405020304" pitchFamily="18" charset="0"/>
                          <a:cs typeface="Times New Roman" panose="02020603050405020304" pitchFamily="18" charset="0"/>
                        </a:rPr>
                        <a:t>RESULT</a:t>
                      </a:r>
                      <a:endParaRPr b="1">
                        <a:latin typeface="Times New Roman" panose="02020603050405020304" pitchFamily="18" charset="0"/>
                        <a:cs typeface="Times New Roman" panose="02020603050405020304" pitchFamily="18" charset="0"/>
                      </a:endParaRPr>
                    </a:p>
                  </a:txBody>
                  <a:tcPr marL="91425" marR="91425" marT="91425" marB="91425"/>
                </a:tc>
              </a:tr>
              <a:tr h="3656725">
                <a:tc>
                  <a:txBody>
                    <a:bodyPr/>
                    <a:lstStyle/>
                    <a:p>
                      <a:pPr marL="0" lvl="0" indent="0" algn="l" rtl="0">
                        <a:lnSpc>
                          <a:spcPct val="100000"/>
                        </a:lnSpc>
                        <a:spcBef>
                          <a:spcPts val="1200"/>
                        </a:spcBef>
                        <a:spcAft>
                          <a:spcPts val="1200"/>
                        </a:spcAft>
                        <a:buNone/>
                      </a:pPr>
                      <a:r>
                        <a:rPr lang="en-IN" sz="1200" b="0" dirty="0">
                          <a:latin typeface="Times New Roman" panose="02020603050405020304" pitchFamily="18" charset="0"/>
                          <a:cs typeface="Times New Roman" panose="02020603050405020304" pitchFamily="18" charset="0"/>
                        </a:rPr>
                        <a:t>Bin Xin, Yang Wang, Yuhang Geng, Shuhan Chen, Wei Yang, Shanshan Wang, Liang Huang (2022)</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IN" sz="1200" b="0" dirty="0">
                          <a:latin typeface="Times New Roman" panose="02020603050405020304" pitchFamily="18" charset="0"/>
                          <a:cs typeface="Times New Roman" panose="02020603050405020304" pitchFamily="18" charset="0"/>
                        </a:rPr>
                        <a:t>Federated Synthetic Data Generation with Differential Privacy</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Proposes Private FL-GAN for privacy-preserving synthetic-data generation in a cross-silo FL setting.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Incorporates differential privacy into GAN training.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Uses EWC and memory replay to handle non-IID data.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Also introduces a serialized training strategy to reduce communication overhead. </a:t>
                      </a:r>
                      <a:endParaRPr sz="1200" b="0" dirty="0">
                        <a:solidFill>
                          <a:schemeClr val="dk1"/>
                        </a:solidFill>
                        <a:latin typeface="Times New Roman" panose="02020603050405020304" pitchFamily="18" charset="0"/>
                        <a:cs typeface="Times New Roman" panose="02020603050405020304" pitchFamily="18" charset="0"/>
                      </a:endParaRPr>
                    </a:p>
                    <a:p>
                      <a:pPr marL="0" lvl="0" indent="0" algn="l" rtl="0">
                        <a:spcBef>
                          <a:spcPts val="0"/>
                        </a:spcBef>
                        <a:spcAft>
                          <a:spcPts val="0"/>
                        </a:spcAft>
                        <a:buClr>
                          <a:schemeClr val="dk1"/>
                        </a:buClr>
                        <a:buSzPts val="1100"/>
                        <a:buFont typeface="Arial" panose="020B0604020202020204"/>
                        <a:buNone/>
                      </a:pPr>
                      <a:endParaRPr sz="1200" b="0" dirty="0">
                        <a:solidFill>
                          <a:schemeClr val="dk1"/>
                        </a:solidFill>
                        <a:latin typeface="Times New Roman" panose="02020603050405020304" pitchFamily="18" charset="0"/>
                        <a:ea typeface="Roboto"/>
                        <a:cs typeface="Times New Roman" panose="02020603050405020304" pitchFamily="18" charset="0"/>
                        <a:sym typeface="Roboto"/>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MNIST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a:t>
                      </a:r>
                      <a:r>
                        <a:rPr lang="en-IN" sz="1200" b="0" dirty="0" err="1">
                          <a:latin typeface="Times New Roman" panose="02020603050405020304" pitchFamily="18" charset="0"/>
                          <a:cs typeface="Times New Roman" panose="02020603050405020304" pitchFamily="18" charset="0"/>
                        </a:rPr>
                        <a:t>CelebA</a:t>
                      </a:r>
                      <a:r>
                        <a:rPr lang="en-IN" sz="1200" b="0" dirty="0">
                          <a:latin typeface="Times New Roman" panose="02020603050405020304" pitchFamily="18" charset="0"/>
                          <a:cs typeface="Times New Roman" panose="02020603050405020304" pitchFamily="18" charset="0"/>
                        </a:rPr>
                        <a: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Fashion-MNIST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Experiments study both IID and non-IID distributed data. </a:t>
                      </a:r>
                      <a:endParaRPr sz="1200" b="0"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Clr>
                          <a:schemeClr val="dk1"/>
                        </a:buClr>
                        <a:buSzPts val="1100"/>
                        <a:buFont typeface="Arial" panose="020B0604020202020204"/>
                        <a:buNone/>
                      </a:pPr>
                      <a:r>
                        <a:rPr lang="en-IN" sz="1200" b="0" dirty="0">
                          <a:latin typeface="Times New Roman" panose="02020603050405020304" pitchFamily="18" charset="0"/>
                          <a:cs typeface="Times New Roman" panose="02020603050405020304" pitchFamily="18" charset="0"/>
                        </a:rPr>
                        <a:t>• Generated satisfactory synthetic data while providing formal differential-privacy protection.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Maintained useful generation quality under non-IID client distributions. </a:t>
                      </a:r>
                      <a:br>
                        <a:rPr lang="en-IN" sz="1200" b="0" dirty="0">
                          <a:latin typeface="Times New Roman" panose="02020603050405020304" pitchFamily="18" charset="0"/>
                          <a:cs typeface="Times New Roman" panose="02020603050405020304" pitchFamily="18" charset="0"/>
                        </a:rPr>
                      </a:br>
                      <a:r>
                        <a:rPr lang="en-IN" sz="1200" b="0" dirty="0">
                          <a:latin typeface="Times New Roman" panose="02020603050405020304" pitchFamily="18" charset="0"/>
                          <a:cs typeface="Times New Roman" panose="02020603050405020304" pitchFamily="18" charset="0"/>
                        </a:rPr>
                        <a:t>• Membership-inference experiments indicated strong protection against the tested attack. </a:t>
                      </a:r>
                      <a:endParaRPr sz="1200" b="0" dirty="0">
                        <a:latin typeface="Times New Roman" panose="02020603050405020304" pitchFamily="18" charset="0"/>
                        <a:cs typeface="Times New Roman" panose="02020603050405020304" pitchFamily="18" charset="0"/>
                      </a:endParaRPr>
                    </a:p>
                  </a:txBody>
                  <a:tcPr marL="91425" marR="91425" marT="91425" marB="914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4"/>
          <p:cNvSpPr txBox="1">
            <a:spLocks noGrp="1"/>
          </p:cNvSpPr>
          <p:nvPr>
            <p:ph type="ctrTitle"/>
          </p:nvPr>
        </p:nvSpPr>
        <p:spPr>
          <a:xfrm>
            <a:off x="265043" y="58300"/>
            <a:ext cx="6088618" cy="725700"/>
          </a:xfrm>
          <a:prstGeom prst="rect">
            <a:avLst/>
          </a:prstGeom>
        </p:spPr>
        <p:txBody>
          <a:bodyPr spcFirstLastPara="1" wrap="square" lIns="91425" tIns="91425" rIns="91425" bIns="91425" anchor="b" anchorCtr="0">
            <a:noAutofit/>
          </a:bodyPr>
          <a:lstStyle/>
          <a:p>
            <a:pPr lvl="0" algn="just"/>
            <a:r>
              <a:rPr lang="en-US" sz="3200" b="1" dirty="0">
                <a:latin typeface="Times New Roman" panose="02020603050405020304" pitchFamily="18" charset="0"/>
                <a:cs typeface="Times New Roman" panose="02020603050405020304" pitchFamily="18" charset="0"/>
              </a:rPr>
              <a:t>Research gap</a:t>
            </a:r>
            <a:endParaRPr lang="en-US" sz="3200" b="1" dirty="0">
              <a:latin typeface="Times New Roman" panose="02020603050405020304" pitchFamily="18" charset="0"/>
              <a:cs typeface="Times New Roman" panose="02020603050405020304" pitchFamily="18" charset="0"/>
            </a:endParaRPr>
          </a:p>
        </p:txBody>
      </p:sp>
      <p:pic>
        <p:nvPicPr>
          <p:cNvPr id="63" name="Google Shape;63;p14"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64" name="Google Shape;64;p14"/>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
        <p:nvSpPr>
          <p:cNvPr id="65" name="Google Shape;65;p14"/>
          <p:cNvSpPr txBox="1"/>
          <p:nvPr/>
        </p:nvSpPr>
        <p:spPr>
          <a:xfrm>
            <a:off x="264795" y="774700"/>
            <a:ext cx="8064500" cy="2555875"/>
          </a:xfrm>
          <a:prstGeom prst="rect">
            <a:avLst/>
          </a:prstGeom>
          <a:noFill/>
          <a:ln>
            <a:noFill/>
          </a:ln>
        </p:spPr>
        <p:txBody>
          <a:bodyPr spcFirstLastPara="1" wrap="square" lIns="91425" tIns="91425" rIns="91425" bIns="91425" anchor="t" anchorCtr="0">
            <a:noAutofit/>
          </a:bodyPr>
          <a:lstStyle/>
          <a:p>
            <a:pPr marL="342900" lvl="0" indent="-342900" algn="just">
              <a:buFont typeface="Arial" panose="020B0604020202020204" pitchFamily="34" charset="0"/>
              <a:buChar char="•"/>
            </a:pPr>
            <a:r>
              <a:rPr lang="en-US" altLang="en-US" sz="2000" dirty="0">
                <a:solidFill>
                  <a:schemeClr val="dk1"/>
                </a:solidFill>
                <a:latin typeface="Times New Roman" panose="02020603050405020304" pitchFamily="18" charset="0"/>
                <a:cs typeface="Times New Roman" panose="02020603050405020304" pitchFamily="18" charset="0"/>
              </a:rPr>
              <a:t>Existing FL methods address privacy and class imbalance separately.</a:t>
            </a:r>
            <a:endParaRPr lang="en-US" altLang="en-US" sz="2000" dirty="0">
              <a:solidFill>
                <a:schemeClr val="dk1"/>
              </a:solidFill>
              <a:latin typeface="Times New Roman" panose="02020603050405020304" pitchFamily="18" charset="0"/>
              <a:cs typeface="Times New Roman" panose="02020603050405020304" pitchFamily="18" charset="0"/>
            </a:endParaRPr>
          </a:p>
          <a:p>
            <a:pPr marL="285750" lvl="0" indent="-285750" algn="just">
              <a:buFont typeface="Arial" panose="020B0604020202020204" pitchFamily="34" charset="0"/>
              <a:buChar char="•"/>
            </a:pPr>
            <a:endParaRPr lang="en-US" altLang="en-US" sz="20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2000" dirty="0">
                <a:solidFill>
                  <a:schemeClr val="dk1"/>
                </a:solidFill>
                <a:latin typeface="Times New Roman" panose="02020603050405020304" pitchFamily="18" charset="0"/>
                <a:cs typeface="Times New Roman" panose="02020603050405020304" pitchFamily="18" charset="0"/>
              </a:rPr>
              <a:t>Generative FL methods mainly focus on synthetic medical data generation, not rare-disease diagnosis.</a:t>
            </a:r>
            <a:endParaRPr lang="en-US" altLang="en-US" sz="20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endParaRPr lang="en-US" altLang="en-US" sz="20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2000" dirty="0">
                <a:solidFill>
                  <a:schemeClr val="dk1"/>
                </a:solidFill>
                <a:latin typeface="Times New Roman" panose="02020603050405020304" pitchFamily="18" charset="0"/>
                <a:cs typeface="Times New Roman" panose="02020603050405020304" pitchFamily="18" charset="0"/>
              </a:rPr>
              <a:t>Existing minority-class methods do not fully exploit federated generative replay for rare diseases.</a:t>
            </a:r>
            <a:endParaRPr lang="en-US" altLang="en-US" sz="2000" dirty="0">
              <a:solidFill>
                <a:schemeClr val="dk1"/>
              </a:solidFill>
              <a:latin typeface="Times New Roman" panose="02020603050405020304" pitchFamily="18" charset="0"/>
              <a:cs typeface="Times New Roman" panose="02020603050405020304" pitchFamily="18" charset="0"/>
            </a:endParaRPr>
          </a:p>
          <a:p>
            <a:pPr marL="0" lvl="0" indent="0" algn="just">
              <a:buFont typeface="Arial" panose="020B0604020202020204" pitchFamily="34" charset="0"/>
              <a:buNone/>
            </a:pPr>
            <a:endParaRPr lang="en-US" altLang="en-US" sz="20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2000" dirty="0">
                <a:solidFill>
                  <a:schemeClr val="dk1"/>
                </a:solidFill>
                <a:latin typeface="Times New Roman" panose="02020603050405020304" pitchFamily="18" charset="0"/>
                <a:cs typeface="Times New Roman" panose="02020603050405020304" pitchFamily="18" charset="0"/>
              </a:rPr>
              <a:t>A practical two-stage framework combining federated generation, local rare-class replay, and federated diagnosis needs further investigation.</a:t>
            </a:r>
            <a:endParaRPr sz="2000" dirty="0">
              <a:solidFill>
                <a:schemeClr val="dk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4"/>
          <p:cNvSpPr txBox="1">
            <a:spLocks noGrp="1"/>
          </p:cNvSpPr>
          <p:nvPr>
            <p:ph type="ctrTitle"/>
          </p:nvPr>
        </p:nvSpPr>
        <p:spPr>
          <a:xfrm>
            <a:off x="265043" y="58300"/>
            <a:ext cx="6088618" cy="725700"/>
          </a:xfrm>
          <a:prstGeom prst="rect">
            <a:avLst/>
          </a:prstGeom>
        </p:spPr>
        <p:txBody>
          <a:bodyPr spcFirstLastPara="1" wrap="square" lIns="91425" tIns="91425" rIns="91425" bIns="91425" anchor="b" anchorCtr="0">
            <a:noAutofit/>
          </a:bodyPr>
          <a:lstStyle/>
          <a:p>
            <a:pPr lvl="0" algn="just"/>
            <a:r>
              <a:rPr lang="en-GB" sz="3200" b="1" dirty="0">
                <a:latin typeface="Times New Roman" panose="02020603050405020304" pitchFamily="18" charset="0"/>
                <a:cs typeface="Times New Roman" panose="02020603050405020304" pitchFamily="18" charset="0"/>
              </a:rPr>
              <a:t>Problem Statement</a:t>
            </a:r>
            <a:endParaRPr sz="3200" b="1" dirty="0">
              <a:latin typeface="Times New Roman" panose="02020603050405020304" pitchFamily="18" charset="0"/>
              <a:cs typeface="Times New Roman" panose="02020603050405020304" pitchFamily="18" charset="0"/>
            </a:endParaRPr>
          </a:p>
        </p:txBody>
      </p:sp>
      <p:pic>
        <p:nvPicPr>
          <p:cNvPr id="63" name="Google Shape;63;p14"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64" name="Google Shape;64;p14"/>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
        <p:nvSpPr>
          <p:cNvPr id="65" name="Google Shape;65;p14"/>
          <p:cNvSpPr txBox="1"/>
          <p:nvPr/>
        </p:nvSpPr>
        <p:spPr>
          <a:xfrm>
            <a:off x="265043" y="774575"/>
            <a:ext cx="8232000" cy="1444500"/>
          </a:xfrm>
          <a:prstGeom prst="rect">
            <a:avLst/>
          </a:prstGeom>
          <a:noFill/>
          <a:ln>
            <a:noFill/>
          </a:ln>
        </p:spPr>
        <p:txBody>
          <a:bodyPr spcFirstLastPara="1" wrap="square" lIns="91425" tIns="91425" rIns="91425" bIns="91425" anchor="t" anchorCtr="0">
            <a:noAutofit/>
          </a:bodyPr>
          <a:lstStyle/>
          <a:p>
            <a:pPr lvl="0" algn="just"/>
            <a:r>
              <a:rPr lang="en-US" sz="1800" dirty="0">
                <a:solidFill>
                  <a:schemeClr val="dk1"/>
                </a:solidFill>
                <a:latin typeface="Times New Roman" panose="02020603050405020304" pitchFamily="18" charset="0"/>
                <a:cs typeface="Times New Roman" panose="02020603050405020304" pitchFamily="18" charset="0"/>
              </a:rPr>
              <a:t>Rare disease data is fragmented across hospitals and highly imbalanced, while privacy regulations prevent sharing patient data. This limits the performance of traditional Federated Learning models. </a:t>
            </a:r>
            <a:r>
              <a:rPr lang="en-US" sz="1800" dirty="0" err="1">
                <a:solidFill>
                  <a:schemeClr val="dk1"/>
                </a:solidFill>
                <a:latin typeface="Times New Roman" panose="02020603050405020304" pitchFamily="18" charset="0"/>
                <a:cs typeface="Times New Roman" panose="02020603050405020304" pitchFamily="18" charset="0"/>
              </a:rPr>
              <a:t>FedGen</a:t>
            </a:r>
            <a:r>
              <a:rPr lang="en-US" sz="1800" dirty="0">
                <a:solidFill>
                  <a:schemeClr val="dk1"/>
                </a:solidFill>
                <a:latin typeface="Times New Roman" panose="02020603050405020304" pitchFamily="18" charset="0"/>
                <a:cs typeface="Times New Roman" panose="02020603050405020304" pitchFamily="18" charset="0"/>
              </a:rPr>
              <a:t>-Rare addresses this by using a federated generative model to create synthetic minority-class data for improved local disease diagnosis while preserving patient privacy.</a:t>
            </a:r>
            <a:endParaRPr sz="1800" dirty="0">
              <a:solidFill>
                <a:schemeClr val="dk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5"/>
          <p:cNvSpPr txBox="1">
            <a:spLocks noGrp="1"/>
          </p:cNvSpPr>
          <p:nvPr>
            <p:ph type="ctrTitle"/>
          </p:nvPr>
        </p:nvSpPr>
        <p:spPr>
          <a:xfrm>
            <a:off x="256444" y="58300"/>
            <a:ext cx="3711300" cy="7257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GB" sz="3200" b="1" dirty="0">
                <a:latin typeface="Times New Roman" panose="02020603050405020304" pitchFamily="18" charset="0"/>
                <a:cs typeface="Times New Roman" panose="02020603050405020304" pitchFamily="18" charset="0"/>
              </a:rPr>
              <a:t>Objectives</a:t>
            </a:r>
            <a:endParaRPr sz="3200" b="1" dirty="0">
              <a:latin typeface="Times New Roman" panose="02020603050405020304" pitchFamily="18" charset="0"/>
              <a:cs typeface="Times New Roman" panose="02020603050405020304" pitchFamily="18" charset="0"/>
            </a:endParaRPr>
          </a:p>
        </p:txBody>
      </p:sp>
      <p:pic>
        <p:nvPicPr>
          <p:cNvPr id="71" name="Google Shape;71;p15"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72" name="Google Shape;72;p15"/>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
        <p:nvSpPr>
          <p:cNvPr id="73" name="Google Shape;73;p15"/>
          <p:cNvSpPr txBox="1"/>
          <p:nvPr/>
        </p:nvSpPr>
        <p:spPr>
          <a:xfrm>
            <a:off x="256444" y="806541"/>
            <a:ext cx="8005800" cy="3530418"/>
          </a:xfrm>
          <a:prstGeom prst="rect">
            <a:avLst/>
          </a:prstGeom>
          <a:noFill/>
          <a:ln>
            <a:noFill/>
          </a:ln>
        </p:spPr>
        <p:txBody>
          <a:bodyPr spcFirstLastPara="1" wrap="square" lIns="91425" tIns="91425" rIns="91425" bIns="91425" anchor="t" anchorCtr="0">
            <a:noAutofit/>
          </a:bodyPr>
          <a:lstStyle/>
          <a:p>
            <a:pPr marL="457200" lvl="0" indent="-317500" algn="just">
              <a:buClr>
                <a:schemeClr val="dk1"/>
              </a:buClr>
              <a:buSzPts val="1400"/>
              <a:buChar char="●"/>
            </a:pPr>
            <a:r>
              <a:rPr lang="en-US" sz="1800" dirty="0">
                <a:solidFill>
                  <a:schemeClr val="dk1"/>
                </a:solidFill>
                <a:latin typeface="Times New Roman" panose="02020603050405020304" pitchFamily="18" charset="0"/>
                <a:cs typeface="Times New Roman" panose="02020603050405020304" pitchFamily="18" charset="0"/>
              </a:rPr>
              <a:t>Develop a privacy-preserving federated generative model that enables multiple hospitals to collaboratively learn from rare-disease data without exchanging raw patient records.</a:t>
            </a:r>
            <a:endParaRPr lang="en-US" sz="1800" dirty="0">
              <a:solidFill>
                <a:schemeClr val="dk1"/>
              </a:solidFill>
              <a:latin typeface="Times New Roman" panose="02020603050405020304" pitchFamily="18" charset="0"/>
              <a:cs typeface="Times New Roman" panose="02020603050405020304" pitchFamily="18" charset="0"/>
            </a:endParaRPr>
          </a:p>
          <a:p>
            <a:pPr marL="457200" lvl="0" indent="-317500" algn="just">
              <a:buClr>
                <a:schemeClr val="dk1"/>
              </a:buClr>
              <a:buSzPts val="1400"/>
              <a:buChar char="●"/>
            </a:pPr>
            <a:r>
              <a:rPr lang="en-US" sz="1800" dirty="0">
                <a:solidFill>
                  <a:schemeClr val="dk1"/>
                </a:solidFill>
                <a:latin typeface="Times New Roman" panose="02020603050405020304" pitchFamily="18" charset="0"/>
                <a:cs typeface="Times New Roman" panose="02020603050405020304" pitchFamily="18" charset="0"/>
              </a:rPr>
              <a:t>Address extreme class imbalance by using the trained global generator to synthesize minority-class samples locally.</a:t>
            </a:r>
            <a:endParaRPr lang="en-US" sz="1800" dirty="0">
              <a:solidFill>
                <a:schemeClr val="dk1"/>
              </a:solidFill>
              <a:latin typeface="Times New Roman" panose="02020603050405020304" pitchFamily="18" charset="0"/>
              <a:cs typeface="Times New Roman" panose="02020603050405020304" pitchFamily="18" charset="0"/>
            </a:endParaRPr>
          </a:p>
          <a:p>
            <a:pPr marL="457200" lvl="0" indent="-317500" algn="just">
              <a:buClr>
                <a:schemeClr val="dk1"/>
              </a:buClr>
              <a:buSzPts val="1400"/>
              <a:buChar char="●"/>
            </a:pPr>
            <a:r>
              <a:rPr lang="en-US" sz="1800" dirty="0">
                <a:solidFill>
                  <a:schemeClr val="dk1"/>
                </a:solidFill>
                <a:latin typeface="Times New Roman" panose="02020603050405020304" pitchFamily="18" charset="0"/>
                <a:cs typeface="Times New Roman" panose="02020603050405020304" pitchFamily="18" charset="0"/>
              </a:rPr>
              <a:t>Improve diagnostic accuracy and robustness by training local classifiers such as </a:t>
            </a:r>
            <a:r>
              <a:rPr lang="en-US" sz="1800" dirty="0" err="1">
                <a:solidFill>
                  <a:schemeClr val="dk1"/>
                </a:solidFill>
                <a:latin typeface="Times New Roman" panose="02020603050405020304" pitchFamily="18" charset="0"/>
                <a:cs typeface="Times New Roman" panose="02020603050405020304" pitchFamily="18" charset="0"/>
              </a:rPr>
              <a:t>ResNet</a:t>
            </a:r>
            <a:r>
              <a:rPr lang="en-US" sz="1800" dirty="0">
                <a:solidFill>
                  <a:schemeClr val="dk1"/>
                </a:solidFill>
                <a:latin typeface="Times New Roman" panose="02020603050405020304" pitchFamily="18" charset="0"/>
                <a:cs typeface="Times New Roman" panose="02020603050405020304" pitchFamily="18" charset="0"/>
              </a:rPr>
              <a:t> or Vision Transformer (</a:t>
            </a:r>
            <a:r>
              <a:rPr lang="en-US" sz="1800" dirty="0" err="1">
                <a:solidFill>
                  <a:schemeClr val="dk1"/>
                </a:solidFill>
                <a:latin typeface="Times New Roman" panose="02020603050405020304" pitchFamily="18" charset="0"/>
                <a:cs typeface="Times New Roman" panose="02020603050405020304" pitchFamily="18" charset="0"/>
              </a:rPr>
              <a:t>ViT</a:t>
            </a:r>
            <a:r>
              <a:rPr lang="en-US" sz="1800" dirty="0">
                <a:solidFill>
                  <a:schemeClr val="dk1"/>
                </a:solidFill>
                <a:latin typeface="Times New Roman" panose="02020603050405020304" pitchFamily="18" charset="0"/>
                <a:cs typeface="Times New Roman" panose="02020603050405020304" pitchFamily="18" charset="0"/>
              </a:rPr>
              <a:t>) on the balanced, augmented datasets.</a:t>
            </a:r>
            <a:endParaRPr lang="en-US" sz="1800" dirty="0">
              <a:solidFill>
                <a:schemeClr val="dk1"/>
              </a:solidFill>
              <a:latin typeface="Times New Roman" panose="02020603050405020304" pitchFamily="18" charset="0"/>
              <a:cs typeface="Times New Roman" panose="02020603050405020304" pitchFamily="18" charset="0"/>
            </a:endParaRPr>
          </a:p>
          <a:p>
            <a:pPr marL="457200" lvl="0" indent="-317500" algn="just">
              <a:buClr>
                <a:schemeClr val="dk1"/>
              </a:buClr>
              <a:buSzPts val="1400"/>
              <a:buChar char="●"/>
            </a:pPr>
            <a:r>
              <a:rPr lang="en-US" sz="1800" dirty="0">
                <a:solidFill>
                  <a:schemeClr val="dk1"/>
                </a:solidFill>
                <a:latin typeface="Times New Roman" panose="02020603050405020304" pitchFamily="18" charset="0"/>
                <a:cs typeface="Times New Roman" panose="02020603050405020304" pitchFamily="18" charset="0"/>
              </a:rPr>
              <a:t>Design a two-stage federated learning pipeline that separately federates the generator and diagnostic classifier.</a:t>
            </a:r>
            <a:endParaRPr lang="en-US" sz="1800" dirty="0">
              <a:solidFill>
                <a:schemeClr val="dk1"/>
              </a:solidFill>
              <a:latin typeface="Times New Roman" panose="02020603050405020304" pitchFamily="18" charset="0"/>
              <a:cs typeface="Times New Roman" panose="02020603050405020304" pitchFamily="18" charset="0"/>
            </a:endParaRPr>
          </a:p>
          <a:p>
            <a:pPr marL="457200" lvl="0" indent="-317500" algn="just">
              <a:buClr>
                <a:schemeClr val="dk1"/>
              </a:buClr>
              <a:buSzPts val="1400"/>
              <a:buChar char="●"/>
            </a:pPr>
            <a:r>
              <a:rPr lang="en-US" sz="1800" dirty="0">
                <a:solidFill>
                  <a:schemeClr val="dk1"/>
                </a:solidFill>
                <a:latin typeface="Times New Roman" panose="02020603050405020304" pitchFamily="18" charset="0"/>
                <a:cs typeface="Times New Roman" panose="02020603050405020304" pitchFamily="18" charset="0"/>
              </a:rPr>
              <a:t>Evaluate the proposed approach against conventional federated learning methods in terms of accuracy, robustness, class imbalance handling, and privacy preservation.</a:t>
            </a:r>
            <a:endParaRPr sz="1800" dirty="0">
              <a:solidFill>
                <a:schemeClr val="dk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4"/>
          <p:cNvSpPr txBox="1">
            <a:spLocks noGrp="1"/>
          </p:cNvSpPr>
          <p:nvPr>
            <p:ph type="ctrTitle"/>
          </p:nvPr>
        </p:nvSpPr>
        <p:spPr>
          <a:xfrm>
            <a:off x="265043" y="58300"/>
            <a:ext cx="6088618" cy="725700"/>
          </a:xfrm>
          <a:prstGeom prst="rect">
            <a:avLst/>
          </a:prstGeom>
        </p:spPr>
        <p:txBody>
          <a:bodyPr spcFirstLastPara="1" wrap="square" lIns="91425" tIns="91425" rIns="91425" bIns="91425" anchor="b" anchorCtr="0">
            <a:noAutofit/>
          </a:bodyPr>
          <a:lstStyle/>
          <a:p>
            <a:pPr lvl="0" algn="just"/>
            <a:r>
              <a:rPr lang="en-US" sz="3200" b="1" dirty="0">
                <a:latin typeface="Times New Roman" panose="02020603050405020304" pitchFamily="18" charset="0"/>
                <a:cs typeface="Times New Roman" panose="02020603050405020304" pitchFamily="18" charset="0"/>
              </a:rPr>
              <a:t>Design Principles</a:t>
            </a:r>
            <a:endParaRPr lang="en-US" sz="3200" b="1" dirty="0">
              <a:latin typeface="Times New Roman" panose="02020603050405020304" pitchFamily="18" charset="0"/>
              <a:cs typeface="Times New Roman" panose="02020603050405020304" pitchFamily="18" charset="0"/>
            </a:endParaRPr>
          </a:p>
        </p:txBody>
      </p:sp>
      <p:pic>
        <p:nvPicPr>
          <p:cNvPr id="63" name="Google Shape;63;p14"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64" name="Google Shape;64;p14"/>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
        <p:nvSpPr>
          <p:cNvPr id="65" name="Google Shape;65;p14"/>
          <p:cNvSpPr txBox="1"/>
          <p:nvPr/>
        </p:nvSpPr>
        <p:spPr>
          <a:xfrm>
            <a:off x="264795" y="774700"/>
            <a:ext cx="8064500" cy="2555875"/>
          </a:xfrm>
          <a:prstGeom prst="rect">
            <a:avLst/>
          </a:prstGeom>
          <a:noFill/>
          <a:ln>
            <a:noFill/>
          </a:ln>
        </p:spPr>
        <p:txBody>
          <a:bodyPr spcFirstLastPara="1" wrap="square" lIns="91425" tIns="91425" rIns="91425" bIns="91425" anchor="t" anchorCtr="0">
            <a:noAutofit/>
          </a:bodyPr>
          <a:lstStyle/>
          <a:p>
            <a:pPr marL="342900" lvl="0" indent="-342900" algn="just">
              <a:buFont typeface="Arial" panose="020B0604020202020204" pitchFamily="34" charset="0"/>
              <a:buChar char="•"/>
            </a:pPr>
            <a:r>
              <a:rPr lang="en-US" altLang="en-US" sz="1800" dirty="0">
                <a:solidFill>
                  <a:schemeClr val="dk1"/>
                </a:solidFill>
                <a:latin typeface="Times New Roman" panose="02020603050405020304" pitchFamily="18" charset="0"/>
                <a:cs typeface="Times New Roman" panose="02020603050405020304" pitchFamily="18" charset="0"/>
              </a:rPr>
              <a:t>Privacy Preservation - Patient data stays within each hospital.</a:t>
            </a: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1800" dirty="0">
                <a:solidFill>
                  <a:schemeClr val="dk1"/>
                </a:solidFill>
                <a:latin typeface="Times New Roman" panose="02020603050405020304" pitchFamily="18" charset="0"/>
                <a:cs typeface="Times New Roman" panose="02020603050405020304" pitchFamily="18" charset="0"/>
              </a:rPr>
              <a:t>Two-Stage FL - Federate the generator first, then the diagnostic classifier.</a:t>
            </a: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1800" dirty="0">
                <a:solidFill>
                  <a:schemeClr val="dk1"/>
                </a:solidFill>
                <a:latin typeface="Times New Roman" panose="02020603050405020304" pitchFamily="18" charset="0"/>
                <a:cs typeface="Times New Roman" panose="02020603050405020304" pitchFamily="18" charset="0"/>
              </a:rPr>
              <a:t>Rare-Class Generation - Generate samples specifically for underrepresented diseases.</a:t>
            </a: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1800" dirty="0">
                <a:solidFill>
                  <a:schemeClr val="dk1"/>
                </a:solidFill>
                <a:latin typeface="Times New Roman" panose="02020603050405020304" pitchFamily="18" charset="0"/>
                <a:cs typeface="Times New Roman" panose="02020603050405020304" pitchFamily="18" charset="0"/>
              </a:rPr>
              <a:t>Local Generative Replay - Use synthetic samples to balance each hospital’s dataset.</a:t>
            </a: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1800" dirty="0">
                <a:solidFill>
                  <a:schemeClr val="dk1"/>
                </a:solidFill>
                <a:latin typeface="Times New Roman" panose="02020603050405020304" pitchFamily="18" charset="0"/>
                <a:cs typeface="Times New Roman" panose="02020603050405020304" pitchFamily="18" charset="0"/>
              </a:rPr>
              <a:t>Robust Diagnosis - Train a ResNet/ViT on the augmented data.</a:t>
            </a: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endParaRPr lang="en-US" altLang="en-US" sz="1800" dirty="0">
              <a:solidFill>
                <a:schemeClr val="dk1"/>
              </a:solidFill>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US" altLang="en-US" sz="1800" dirty="0">
                <a:solidFill>
                  <a:schemeClr val="dk1"/>
                </a:solidFill>
                <a:latin typeface="Times New Roman" panose="02020603050405020304" pitchFamily="18" charset="0"/>
                <a:cs typeface="Times New Roman" panose="02020603050405020304" pitchFamily="18" charset="0"/>
              </a:rPr>
              <a:t>Minority-Focused Evaluation - Use Macro-F1, recall, and balanced accuracy.</a:t>
            </a:r>
            <a:endParaRPr sz="1800" dirty="0">
              <a:solidFill>
                <a:schemeClr val="dk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8"/>
          <p:cNvSpPr txBox="1">
            <a:spLocks noGrp="1"/>
          </p:cNvSpPr>
          <p:nvPr>
            <p:ph type="ctrTitle"/>
          </p:nvPr>
        </p:nvSpPr>
        <p:spPr>
          <a:xfrm>
            <a:off x="2075250" y="2208900"/>
            <a:ext cx="4993500" cy="725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GB" b="1" dirty="0">
                <a:latin typeface="Times New Roman" panose="02020603050405020304" pitchFamily="18" charset="0"/>
                <a:cs typeface="Times New Roman" panose="02020603050405020304" pitchFamily="18" charset="0"/>
              </a:rPr>
              <a:t>Thank you</a:t>
            </a:r>
            <a:endParaRPr b="1" dirty="0">
              <a:latin typeface="Times New Roman" panose="02020603050405020304" pitchFamily="18" charset="0"/>
              <a:cs typeface="Times New Roman" panose="02020603050405020304" pitchFamily="18" charset="0"/>
            </a:endParaRPr>
          </a:p>
        </p:txBody>
      </p:sp>
      <p:pic>
        <p:nvPicPr>
          <p:cNvPr id="166" name="Google Shape;166;p28" title="kle logo.png"/>
          <p:cNvPicPr preferRelativeResize="0"/>
          <p:nvPr/>
        </p:nvPicPr>
        <p:blipFill>
          <a:blip r:embed="rId1"/>
          <a:stretch>
            <a:fillRect/>
          </a:stretch>
        </p:blipFill>
        <p:spPr>
          <a:xfrm>
            <a:off x="6752350" y="58300"/>
            <a:ext cx="2315725" cy="550325"/>
          </a:xfrm>
          <a:prstGeom prst="rect">
            <a:avLst/>
          </a:prstGeom>
          <a:noFill/>
          <a:ln>
            <a:noFill/>
          </a:ln>
        </p:spPr>
      </p:pic>
      <p:cxnSp>
        <p:nvCxnSpPr>
          <p:cNvPr id="167" name="Google Shape;167;p28"/>
          <p:cNvCxnSpPr/>
          <p:nvPr/>
        </p:nvCxnSpPr>
        <p:spPr>
          <a:xfrm>
            <a:off x="-21150" y="674050"/>
            <a:ext cx="9159600" cy="351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11173</Words>
  <Application>WPS Presentation</Application>
  <PresentationFormat>On-screen Show (16:9)</PresentationFormat>
  <Paragraphs>258</Paragraphs>
  <Slides>17</Slides>
  <Notes>16</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17</vt:i4>
      </vt:variant>
    </vt:vector>
  </HeadingPairs>
  <TitlesOfParts>
    <vt:vector size="26" baseType="lpstr">
      <vt:lpstr>Arial</vt:lpstr>
      <vt:lpstr>SimSun</vt:lpstr>
      <vt:lpstr>Wingdings</vt:lpstr>
      <vt:lpstr>Arial</vt:lpstr>
      <vt:lpstr>Times New Roman</vt:lpstr>
      <vt:lpstr>Roboto</vt:lpstr>
      <vt:lpstr>Microsoft YaHei</vt:lpstr>
      <vt:lpstr>Arial Unicode MS</vt:lpstr>
      <vt:lpstr>Simple Light</vt:lpstr>
      <vt:lpstr>Team - 48</vt:lpstr>
      <vt:lpstr>Motivation</vt:lpstr>
      <vt:lpstr>Problem Analysis</vt:lpstr>
      <vt:lpstr>Literature Survey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Problem Statement</vt:lpstr>
      <vt:lpstr>Problem Statement</vt:lpstr>
      <vt:lpstr>Objectives</vt:lpstr>
      <vt:lpstr>Reserach gap</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cp:lastModifiedBy>01fe23bcs082</cp:lastModifiedBy>
  <cp:revision>4</cp:revision>
  <dcterms:created xsi:type="dcterms:W3CDTF">2026-09-07T07:17:53Z</dcterms:created>
  <dcterms:modified xsi:type="dcterms:W3CDTF">2026-09-07T07:49:56Z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F67514CA0F094CE39DABDBFFF59B275D_13</vt:lpwstr>
  </property>
</Properties>
</file>